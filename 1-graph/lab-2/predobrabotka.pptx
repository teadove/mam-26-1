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saveSubsetFonts="1">
  <p:sldMasterIdLst>
    <p:sldMasterId id="2147483648" r:id="rId1"/>
  </p:sldMasterIdLst>
  <p:notesMasterIdLst>
    <p:notesMasterId r:id="rId2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type="screen4x3" cy="6858000" cx="9144000"/>
  <p:notesSz cx="6858000" cy="9144000"/>
  <p:defaultTextStyle>
    <a:defPPr>
      <a:defRPr lang="ru-RU"/>
    </a:defPPr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>
    <p:restoredLeft sz="15620"/>
    <p:restoredTop sz="94660"/>
  </p:normalViewPr>
  <p:slideViewPr>
    <p:cSldViewPr>
      <p:cViewPr varScale="1">
        <p:scale>
          <a:sx n="106" d="100"/>
          <a:sy n="106" d="100"/>
        </p:scale>
        <p:origin x="-168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tableStyles" Target="tableStyles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0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0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710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71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71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1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Титульный слайд"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9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1048600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1048601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35CD88CE-10A3-4DCE-A90D-F38F9C46CA85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1048602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ru-RU"/>
          </a:p>
        </p:txBody>
      </p:sp>
      <p:sp>
        <p:nvSpPr>
          <p:cNvPr id="1048603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6B72403-6B46-4DC2-B8D1-A4ABE1B30C8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Заголовок и объект"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1048582" name="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1048583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35CD88CE-10A3-4DCE-A90D-F38F9C46CA85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1048584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ru-RU"/>
          </a:p>
        </p:txBody>
      </p:sp>
      <p:sp>
        <p:nvSpPr>
          <p:cNvPr id="1048585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6B72403-6B46-4DC2-B8D1-A4ABE1B30C8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Заголовок раздела">
    <p:spTree>
      <p:nvGrpSpPr>
        <p:cNvPr id="9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0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b="1" cap="all" sz="4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1048681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indent="0" mar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048682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35CD88CE-10A3-4DCE-A90D-F38F9C46CA85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1048683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ru-RU"/>
          </a:p>
        </p:txBody>
      </p:sp>
      <p:sp>
        <p:nvSpPr>
          <p:cNvPr id="1048684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6B72403-6B46-4DC2-B8D1-A4ABE1B30C8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Два объекта">
    <p:spTree>
      <p:nvGrpSpPr>
        <p:cNvPr id="9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5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1048686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1048687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1048688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35CD88CE-10A3-4DCE-A90D-F38F9C46CA85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1048689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ru-RU"/>
          </a:p>
        </p:txBody>
      </p:sp>
      <p:sp>
        <p:nvSpPr>
          <p:cNvPr id="1048690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6B72403-6B46-4DC2-B8D1-A4ABE1B30C8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Сравнение">
    <p:spTree>
      <p:nvGrpSpPr>
        <p:cNvPr id="1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1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1048692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048693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1048694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048695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1048696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35CD88CE-10A3-4DCE-A90D-F38F9C46CA85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1048697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ru-RU"/>
          </a:p>
        </p:txBody>
      </p:sp>
      <p:sp>
        <p:nvSpPr>
          <p:cNvPr id="1048698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6B72403-6B46-4DC2-B8D1-A4ABE1B30C8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Только заголовок">
    <p:spTree>
      <p:nvGrpSpPr>
        <p:cNvPr id="9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0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1048661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35CD88CE-10A3-4DCE-A90D-F38F9C46CA85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1048662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ru-RU"/>
          </a:p>
        </p:txBody>
      </p:sp>
      <p:sp>
        <p:nvSpPr>
          <p:cNvPr id="1048663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6B72403-6B46-4DC2-B8D1-A4ABE1B30C8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Пустой слайд">
    <p:spTree>
      <p:nvGrpSpPr>
        <p:cNvPr id="1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9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35CD88CE-10A3-4DCE-A90D-F38F9C46CA85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1048700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ru-RU"/>
          </a:p>
        </p:txBody>
      </p:sp>
      <p:sp>
        <p:nvSpPr>
          <p:cNvPr id="1048701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6B72403-6B46-4DC2-B8D1-A4ABE1B30C8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Объект с подписью">
    <p:spTree>
      <p:nvGrpSpPr>
        <p:cNvPr id="10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104870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104870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04870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35CD88CE-10A3-4DCE-A90D-F38F9C46CA85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104870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ru-RU"/>
          </a:p>
        </p:txBody>
      </p:sp>
      <p:sp>
        <p:nvSpPr>
          <p:cNvPr id="104870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6B72403-6B46-4DC2-B8D1-A4ABE1B30C8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Рисунок с подписью">
    <p:spTree>
      <p:nvGrpSpPr>
        <p:cNvPr id="9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9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1048670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ru-RU"/>
          </a:p>
        </p:txBody>
      </p:sp>
      <p:sp>
        <p:nvSpPr>
          <p:cNvPr id="1048671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048672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35CD88CE-10A3-4DCE-A90D-F38F9C46CA85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1048673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ru-RU"/>
          </a:p>
        </p:txBody>
      </p:sp>
      <p:sp>
        <p:nvSpPr>
          <p:cNvPr id="1048674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6B72403-6B46-4DC2-B8D1-A4ABE1B30C8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Заголовок и вертикальный текст">
    <p:spTree>
      <p:nvGrpSpPr>
        <p:cNvPr id="9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5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1048676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1048677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35CD88CE-10A3-4DCE-A90D-F38F9C46CA85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1048678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ru-RU"/>
          </a:p>
        </p:txBody>
      </p:sp>
      <p:sp>
        <p:nvSpPr>
          <p:cNvPr id="1048679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6B72403-6B46-4DC2-B8D1-A4ABE1B30C8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Вертикальный заголовок и текст">
    <p:spTree>
      <p:nvGrpSpPr>
        <p:cNvPr id="9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4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1048665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1048666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35CD88CE-10A3-4DCE-A90D-F38F9C46CA85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1048667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ru-RU"/>
          </a:p>
        </p:txBody>
      </p:sp>
      <p:sp>
        <p:nvSpPr>
          <p:cNvPr id="1048668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6B72403-6B46-4DC2-B8D1-A4ABE1B30C8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1048577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1048578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CD88CE-10A3-4DCE-A90D-F38F9C46CA85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1048579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048580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B72403-6B46-4DC2-B8D1-A4ABE1B30C8C}" type="slidenum">
              <a:rPr lang="ru-RU" smtClean="0"/>
              <a:t>‹#›</a:t>
            </a:fld>
            <a:endParaRPr lang="ru-RU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342900" latinLnBrk="0" marL="342900" rtl="0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85750" latinLnBrk="0" marL="742950" rtl="0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Заголовок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dirty="0" lang="ru-RU" smtClean="0"/>
              <a:t>Предобработка </a:t>
            </a:r>
            <a:endParaRPr dirty="0" lang="ru-RU"/>
          </a:p>
        </p:txBody>
      </p:sp>
      <p:sp>
        <p:nvSpPr>
          <p:cNvPr id="1048605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dirty="0" lang="ru-RU" smtClean="0"/>
              <a:t>Евстифеева Н. А.</a:t>
            </a:r>
            <a:endParaRPr dirty="0"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6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ru-RU" smtClean="0"/>
              <a:t>Схема предобработки</a:t>
            </a:r>
            <a:endParaRPr dirty="0" lang="ru-RU"/>
          </a:p>
        </p:txBody>
      </p:sp>
      <p:sp>
        <p:nvSpPr>
          <p:cNvPr id="1048607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74375" lnSpcReduction="20000"/>
          </a:bodyPr>
          <a:p>
            <a:r>
              <a:rPr dirty="0" lang="ru-RU" smtClean="0"/>
              <a:t>[1. Извлечение данных] ← </a:t>
            </a:r>
            <a:r>
              <a:rPr dirty="0" lang="en-US" smtClean="0"/>
              <a:t>PDF, Web, DOCX/PPTX/XLSX </a:t>
            </a:r>
            <a:endParaRPr dirty="0" lang="ru-RU" smtClean="0"/>
          </a:p>
          <a:p>
            <a:r>
              <a:rPr dirty="0" lang="en-US" smtClean="0"/>
              <a:t>[2. </a:t>
            </a:r>
            <a:r>
              <a:rPr dirty="0" lang="ru-RU" smtClean="0"/>
              <a:t>Разбиение на блоки] ← </a:t>
            </a:r>
            <a:r>
              <a:rPr dirty="0" lang="en-US" smtClean="0"/>
              <a:t>Chunking </a:t>
            </a:r>
            <a:r>
              <a:rPr dirty="0" lang="ru-RU" smtClean="0"/>
              <a:t>с защитой формул</a:t>
            </a:r>
          </a:p>
          <a:p>
            <a:r>
              <a:rPr dirty="0" lang="ru-RU" smtClean="0"/>
              <a:t>[3. Очистка] ← Шум, </a:t>
            </a:r>
            <a:r>
              <a:rPr dirty="0" lang="en-US" smtClean="0"/>
              <a:t>OCR-</a:t>
            </a:r>
            <a:r>
              <a:rPr dirty="0" lang="ru-RU" smtClean="0"/>
              <a:t>артефакты, </a:t>
            </a:r>
            <a:r>
              <a:rPr dirty="0" lang="en-US" smtClean="0"/>
              <a:t>PII</a:t>
            </a:r>
            <a:endParaRPr dirty="0" lang="ru-RU" smtClean="0"/>
          </a:p>
          <a:p>
            <a:r>
              <a:rPr dirty="0" lang="en-US" smtClean="0"/>
              <a:t>[4. </a:t>
            </a:r>
            <a:r>
              <a:rPr dirty="0" lang="ru-RU" smtClean="0"/>
              <a:t>Нормализация] ← </a:t>
            </a:r>
            <a:r>
              <a:rPr dirty="0" lang="ru-RU" err="1" smtClean="0"/>
              <a:t>Лемматизация</a:t>
            </a:r>
            <a:r>
              <a:rPr dirty="0" lang="ru-RU" smtClean="0"/>
              <a:t>, единицы, даты</a:t>
            </a:r>
          </a:p>
          <a:p>
            <a:r>
              <a:rPr dirty="0" lang="ru-RU" smtClean="0"/>
              <a:t>[5. </a:t>
            </a:r>
            <a:r>
              <a:rPr dirty="0" lang="ru-RU" err="1" smtClean="0"/>
              <a:t>Токенизация</a:t>
            </a:r>
            <a:r>
              <a:rPr dirty="0" lang="ru-RU" smtClean="0"/>
              <a:t>] ← Словесная, </a:t>
            </a:r>
            <a:r>
              <a:rPr dirty="0" lang="ru-RU" err="1" smtClean="0"/>
              <a:t>субсловная</a:t>
            </a:r>
            <a:r>
              <a:rPr dirty="0" lang="ru-RU" smtClean="0"/>
              <a:t>, </a:t>
            </a:r>
            <a:r>
              <a:rPr dirty="0" lang="en-US" err="1" smtClean="0"/>
              <a:t>LaTeX</a:t>
            </a:r>
            <a:r>
              <a:rPr dirty="0" lang="en-US" smtClean="0"/>
              <a:t>-aware</a:t>
            </a:r>
            <a:endParaRPr dirty="0" lang="ru-RU" smtClean="0"/>
          </a:p>
          <a:p>
            <a:r>
              <a:rPr dirty="0" lang="en-US" smtClean="0"/>
              <a:t>[6. </a:t>
            </a:r>
            <a:r>
              <a:rPr dirty="0" lang="ru-RU" smtClean="0"/>
              <a:t>Аугментация] ← Синонимы, БЯМ, числовые параметры</a:t>
            </a:r>
          </a:p>
          <a:p>
            <a:r>
              <a:rPr dirty="0" lang="ru-RU" smtClean="0"/>
              <a:t>[7. Векторизация] ← </a:t>
            </a:r>
            <a:r>
              <a:rPr dirty="0" lang="en-US" smtClean="0"/>
              <a:t>TF-IDF, SBERT, E5, AST-</a:t>
            </a:r>
            <a:r>
              <a:rPr dirty="0" lang="ru-RU" smtClean="0"/>
              <a:t>формулы</a:t>
            </a:r>
          </a:p>
          <a:p>
            <a:r>
              <a:rPr dirty="0" lang="ru-RU" smtClean="0"/>
              <a:t>[8. Оценка качества] ← </a:t>
            </a:r>
            <a:r>
              <a:rPr dirty="0" lang="en-US" smtClean="0"/>
              <a:t>CER, WER, Hit Rate, MRR</a:t>
            </a:r>
            <a:endParaRPr dirty="0"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8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b="1" dirty="0" lang="ru-RU"/>
              <a:t>Извлечение из </a:t>
            </a:r>
            <a:r>
              <a:rPr b="1" dirty="0" lang="en-US" smtClean="0"/>
              <a:t>PDF</a:t>
            </a:r>
            <a:endParaRPr dirty="0" lang="ru-RU"/>
          </a:p>
        </p:txBody>
      </p:sp>
      <p:sp>
        <p:nvSpPr>
          <p:cNvPr id="1048609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b="1" dirty="0" lang="ru-RU"/>
              <a:t>Цель:</a:t>
            </a:r>
            <a:r>
              <a:rPr dirty="0" lang="ru-RU"/>
              <a:t> Преобразовать PDF в машиночитаемый текст с сохранением:</a:t>
            </a:r>
          </a:p>
          <a:p>
            <a:pPr lvl="1"/>
            <a:r>
              <a:rPr dirty="0" lang="ru-RU"/>
              <a:t>порядка чтения;</a:t>
            </a:r>
          </a:p>
          <a:p>
            <a:pPr lvl="1"/>
            <a:r>
              <a:rPr dirty="0" lang="ru-RU"/>
              <a:t>иерархии документа;</a:t>
            </a:r>
          </a:p>
          <a:p>
            <a:pPr lvl="1"/>
            <a:r>
              <a:rPr dirty="0" lang="ru-RU"/>
              <a:t>таблиц (включая объединённые ячейки);</a:t>
            </a:r>
          </a:p>
          <a:p>
            <a:pPr lvl="1"/>
            <a:r>
              <a:rPr dirty="0" lang="ru-RU"/>
              <a:t>математических формул → </a:t>
            </a:r>
            <a:r>
              <a:rPr dirty="0" lang="ru-RU" err="1"/>
              <a:t>LaTeX</a:t>
            </a:r>
            <a:r>
              <a:rPr dirty="0" lang="ru-RU"/>
              <a:t>;</a:t>
            </a:r>
          </a:p>
          <a:p>
            <a:pPr lvl="1"/>
            <a:r>
              <a:rPr dirty="0" lang="ru-RU"/>
              <a:t>химических уравнений → </a:t>
            </a:r>
            <a:r>
              <a:rPr dirty="0" lang="ru-RU" err="1"/>
              <a:t>LaTeX</a:t>
            </a:r>
            <a:r>
              <a:rPr dirty="0" lang="ru-RU"/>
              <a:t>;</a:t>
            </a:r>
          </a:p>
          <a:p>
            <a:pPr lvl="1"/>
            <a:r>
              <a:rPr dirty="0" lang="ru-RU"/>
              <a:t>физических размерностей;</a:t>
            </a:r>
          </a:p>
          <a:p>
            <a:pPr lvl="1"/>
            <a:r>
              <a:rPr dirty="0" lang="ru-RU"/>
              <a:t>метаданных (автор, дата, версия).</a:t>
            </a:r>
          </a:p>
          <a:p>
            <a:endParaRPr dirty="0"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b="1" dirty="0" lang="ru-RU"/>
              <a:t>Стратегии извлечения из </a:t>
            </a:r>
            <a:r>
              <a:rPr b="1" dirty="0" lang="en-US" smtClean="0"/>
              <a:t>PDF</a:t>
            </a:r>
            <a:endParaRPr dirty="0" lang="ru-RU"/>
          </a:p>
        </p:txBody>
      </p:sp>
      <p:sp>
        <p:nvSpPr>
          <p:cNvPr id="1048611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b="1" dirty="0" lang="ru-RU"/>
              <a:t>Три типа </a:t>
            </a:r>
            <a:r>
              <a:rPr b="1" dirty="0" lang="en-US"/>
              <a:t>PDF </a:t>
            </a:r>
            <a:r>
              <a:rPr b="1" dirty="0" lang="ru-RU"/>
              <a:t>и три стратегии:</a:t>
            </a:r>
            <a:endParaRPr dirty="0" lang="ru-RU"/>
          </a:p>
          <a:p>
            <a:pPr>
              <a:buNone/>
            </a:pPr>
            <a:endParaRPr b="1" dirty="0" lang="ru-RU" smtClean="0"/>
          </a:p>
          <a:p>
            <a:endParaRPr b="1" dirty="0" lang="ru-RU" smtClean="0"/>
          </a:p>
          <a:p>
            <a:endParaRPr b="1" dirty="0" lang="ru-RU"/>
          </a:p>
          <a:p>
            <a:endParaRPr b="1" dirty="0" lang="ru-RU" smtClean="0"/>
          </a:p>
          <a:p>
            <a:endParaRPr b="1" dirty="0" lang="ru-RU" smtClean="0"/>
          </a:p>
          <a:p>
            <a:endParaRPr b="1" dirty="0" lang="ru-RU"/>
          </a:p>
          <a:p>
            <a:endParaRPr b="1" dirty="0" lang="ru-RU" smtClean="0"/>
          </a:p>
          <a:p>
            <a:endParaRPr b="1" dirty="0" lang="ru-RU"/>
          </a:p>
          <a:p>
            <a:endParaRPr b="1" dirty="0" lang="ru-RU" smtClean="0"/>
          </a:p>
          <a:p>
            <a:endParaRPr b="1" dirty="0" lang="ru-RU"/>
          </a:p>
          <a:p>
            <a:endParaRPr b="1" dirty="0" lang="ru-RU" smtClean="0"/>
          </a:p>
          <a:p>
            <a:endParaRPr dirty="0" lang="ru-RU"/>
          </a:p>
        </p:txBody>
      </p:sp>
      <p:graphicFrame>
        <p:nvGraphicFramePr>
          <p:cNvPr id="4194305" name="Таблица 3"/>
          <p:cNvGraphicFramePr>
            <a:graphicFrameLocks noGrp="1"/>
          </p:cNvGraphicFramePr>
          <p:nvPr/>
        </p:nvGraphicFramePr>
        <p:xfrm>
          <a:off x="899592" y="2420888"/>
          <a:ext cx="6096000" cy="235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/>
                <a:gridCol w="2032000"/>
                <a:gridCol w="2032000"/>
              </a:tblGrid>
              <a:tr h="370840">
                <a:tc>
                  <a:txBody>
                    <a:bodyPr/>
                    <a:p>
                      <a:r>
                        <a:rPr b="0" dirty="0" sz="1600" i="0" kern="1200" lang="ru-RU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Тип </a:t>
                      </a:r>
                      <a:r>
                        <a:rPr b="0" dirty="0" sz="1600" i="0" kern="1200" lang="en-US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PDF</a:t>
                      </a:r>
                      <a:endParaRPr dirty="0" sz="160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600" i="0" kern="1200" lang="ru-RU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Стратегия</a:t>
                      </a:r>
                      <a:endParaRPr dirty="0" sz="160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600" i="0" kern="1200" lang="ru-RU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Инструменты</a:t>
                      </a:r>
                      <a:endParaRPr dirty="0" sz="1600" lang="ru-RU"/>
                    </a:p>
                  </a:txBody>
                </a:tc>
              </a:tr>
              <a:tr h="370840">
                <a:tc>
                  <a:txBody>
                    <a:bodyPr/>
                    <a:p>
                      <a:r>
                        <a:rPr b="1" dirty="0" sz="16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Цифровой</a:t>
                      </a:r>
                      <a:r>
                        <a:rPr b="0" dirty="0" sz="16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(текстовый слой)</a:t>
                      </a:r>
                      <a:endParaRPr dirty="0" sz="160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6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Прямое извлечение</a:t>
                      </a:r>
                      <a:endParaRPr dirty="0" sz="160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600" i="0" kern="1200" lang="en-US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PyMuPDF</a:t>
                      </a:r>
                      <a:r>
                        <a:rPr b="0" dirty="0" sz="16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b="0" dirty="0" sz="1600" i="0" kern="1200" lang="en-US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pdfplumber</a:t>
                      </a:r>
                      <a:endParaRPr dirty="0" sz="1600" lang="ru-RU"/>
                    </a:p>
                  </a:txBody>
                </a:tc>
              </a:tr>
              <a:tr h="370840">
                <a:tc>
                  <a:txBody>
                    <a:bodyPr/>
                    <a:p>
                      <a:r>
                        <a:rPr b="1" dirty="0" sz="16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Скан</a:t>
                      </a:r>
                      <a:r>
                        <a:rPr b="0" dirty="0" sz="16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(изображение)</a:t>
                      </a:r>
                      <a:endParaRPr dirty="0" sz="160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6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OCR</a:t>
                      </a:r>
                      <a:endParaRPr dirty="0" sz="160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600" i="0" kern="1200" lang="en-US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Tesseract</a:t>
                      </a:r>
                      <a:r>
                        <a:rPr b="0" dirty="0" sz="16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ABBYY </a:t>
                      </a:r>
                      <a:r>
                        <a:rPr b="0" dirty="0" sz="1600" i="0" kern="1200" lang="en-US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FineReader</a:t>
                      </a:r>
                      <a:r>
                        <a:rPr b="0" dirty="0" sz="16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Google Vision</a:t>
                      </a:r>
                      <a:endParaRPr dirty="0" sz="1600" lang="ru-RU"/>
                    </a:p>
                  </a:txBody>
                </a:tc>
              </a:tr>
              <a:tr h="370840">
                <a:tc>
                  <a:txBody>
                    <a:bodyPr/>
                    <a:p>
                      <a:r>
                        <a:rPr b="1" dirty="0" sz="16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Гибридный</a:t>
                      </a:r>
                      <a:endParaRPr dirty="0" sz="160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600" i="0" kern="1200" lang="en-US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PyMuPDF</a:t>
                      </a:r>
                      <a:r>
                        <a:rPr b="0" dirty="0" sz="16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+ </a:t>
                      </a:r>
                      <a:r>
                        <a:rPr b="0" dirty="0" sz="16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выборочный </a:t>
                      </a:r>
                      <a:r>
                        <a:rPr b="0" dirty="0" sz="16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OCR</a:t>
                      </a:r>
                      <a:endParaRPr dirty="0" sz="160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6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Комбинация</a:t>
                      </a:r>
                      <a:endParaRPr dirty="0" sz="1600" lang="ru-RU"/>
                    </a:p>
                  </a:txBody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b="1" dirty="0" lang="ru-RU" smtClean="0"/>
              <a:t>Специализированные задачи</a:t>
            </a:r>
            <a:endParaRPr dirty="0" lang="ru-RU"/>
          </a:p>
        </p:txBody>
      </p:sp>
      <p:sp>
        <p:nvSpPr>
          <p:cNvPr id="104861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9643" lnSpcReduction="20000"/>
          </a:bodyPr>
          <a:p>
            <a:pPr lvl="1"/>
            <a:r>
              <a:rPr b="1" dirty="0" lang="ru-RU" smtClean="0"/>
              <a:t>Математические </a:t>
            </a:r>
            <a:r>
              <a:rPr b="1" dirty="0" lang="ru-RU"/>
              <a:t>формулы:</a:t>
            </a:r>
            <a:r>
              <a:rPr dirty="0" lang="ru-RU"/>
              <a:t> </a:t>
            </a:r>
            <a:r>
              <a:rPr dirty="0" lang="en-US" err="1"/>
              <a:t>Mathpix</a:t>
            </a:r>
            <a:r>
              <a:rPr dirty="0" lang="en-US"/>
              <a:t> API, </a:t>
            </a:r>
            <a:r>
              <a:rPr dirty="0" lang="en-US" err="1"/>
              <a:t>LaTeX</a:t>
            </a:r>
            <a:r>
              <a:rPr dirty="0" lang="en-US"/>
              <a:t>-OCR (pix2tex), </a:t>
            </a:r>
            <a:r>
              <a:rPr dirty="0" lang="en-US" err="1"/>
              <a:t>MathGPT</a:t>
            </a:r>
            <a:endParaRPr dirty="0" lang="en-US"/>
          </a:p>
          <a:p>
            <a:pPr lvl="1"/>
            <a:r>
              <a:rPr b="1" dirty="0" lang="ru-RU"/>
              <a:t>Химические формулы:</a:t>
            </a:r>
            <a:r>
              <a:rPr dirty="0" lang="ru-RU"/>
              <a:t> </a:t>
            </a:r>
            <a:r>
              <a:rPr dirty="0" lang="en-US" err="1"/>
              <a:t>ChemDataExtractor</a:t>
            </a:r>
            <a:r>
              <a:rPr dirty="0" lang="en-US"/>
              <a:t>, </a:t>
            </a:r>
            <a:r>
              <a:rPr dirty="0" lang="en-US" err="1"/>
              <a:t>RDKit</a:t>
            </a:r>
            <a:r>
              <a:rPr dirty="0" lang="en-US"/>
              <a:t>, OPSIN</a:t>
            </a:r>
          </a:p>
          <a:p>
            <a:pPr lvl="1"/>
            <a:r>
              <a:rPr b="1" dirty="0" lang="ru-RU"/>
              <a:t>Физические размерности:</a:t>
            </a:r>
            <a:r>
              <a:rPr dirty="0" lang="ru-RU"/>
              <a:t> </a:t>
            </a:r>
            <a:r>
              <a:rPr dirty="0" lang="en-US"/>
              <a:t>Pint, quantities</a:t>
            </a:r>
          </a:p>
          <a:p>
            <a:pPr lvl="1"/>
            <a:r>
              <a:rPr b="1" dirty="0" lang="en-US"/>
              <a:t>Layout-</a:t>
            </a:r>
            <a:r>
              <a:rPr b="1" dirty="0" lang="ru-RU"/>
              <a:t>анализ:</a:t>
            </a:r>
            <a:r>
              <a:rPr dirty="0" lang="ru-RU"/>
              <a:t> </a:t>
            </a:r>
            <a:r>
              <a:rPr dirty="0" lang="en-US"/>
              <a:t>Detectron2, LayoutLMv3, YOLO</a:t>
            </a:r>
          </a:p>
          <a:p>
            <a:pPr lvl="1"/>
            <a:r>
              <a:rPr b="1" dirty="0" lang="ru-RU"/>
              <a:t>Универсальные </a:t>
            </a:r>
            <a:r>
              <a:rPr b="1" dirty="0" lang="ru-RU" err="1"/>
              <a:t>парсеры</a:t>
            </a:r>
            <a:r>
              <a:rPr b="1" dirty="0" lang="ru-RU"/>
              <a:t>:</a:t>
            </a:r>
            <a:r>
              <a:rPr dirty="0" lang="ru-RU"/>
              <a:t> </a:t>
            </a:r>
            <a:r>
              <a:rPr dirty="0" lang="en-US" err="1"/>
              <a:t>MegaParse</a:t>
            </a:r>
            <a:r>
              <a:rPr dirty="0" lang="en-US"/>
              <a:t>, </a:t>
            </a:r>
            <a:r>
              <a:rPr dirty="0" lang="en-US"/>
              <a:t>PyMuPDF4LLM</a:t>
            </a:r>
            <a:endParaRPr altLang="en-US" lang="zh-CN"/>
          </a:p>
          <a:p>
            <a:pPr>
              <a:buNone/>
            </a:pPr>
            <a:r>
              <a:rPr dirty="0" lang="en-US" smtClean="0"/>
              <a:t/>
            </a:r>
            <a:br>
              <a:rPr dirty="0" lang="en-US" smtClean="0"/>
            </a:br>
            <a:endParaRPr dirty="0"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4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b="1" dirty="0" lang="ru-RU"/>
              <a:t>Алгоритм </a:t>
            </a:r>
            <a:r>
              <a:rPr b="1" dirty="0" lang="ru-RU" err="1"/>
              <a:t>парсинга</a:t>
            </a:r>
            <a:r>
              <a:rPr b="1" dirty="0" lang="ru-RU"/>
              <a:t> </a:t>
            </a:r>
            <a:r>
              <a:rPr b="1" dirty="0" lang="en-US" smtClean="0"/>
              <a:t>PDF</a:t>
            </a:r>
            <a:endParaRPr dirty="0" lang="ru-RU"/>
          </a:p>
        </p:txBody>
      </p:sp>
      <p:sp>
        <p:nvSpPr>
          <p:cNvPr id="1048615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58929" lnSpcReduction="20000"/>
          </a:bodyPr>
          <a:p>
            <a:r>
              <a:rPr dirty="0" lang="ru-RU"/>
              <a:t>Получение PDF</a:t>
            </a:r>
          </a:p>
          <a:p>
            <a:r>
              <a:rPr dirty="0" lang="ru-RU"/>
              <a:t>Проверка формата и целостности</a:t>
            </a:r>
          </a:p>
          <a:p>
            <a:r>
              <a:rPr dirty="0" lang="ru-RU"/>
              <a:t>Определение типа: цифровой / скан / гибрид / форма</a:t>
            </a:r>
          </a:p>
          <a:p>
            <a:r>
              <a:rPr dirty="0" lang="ru-RU"/>
              <a:t>Выбор стратегии извлечения (</a:t>
            </a:r>
            <a:r>
              <a:rPr dirty="0" lang="ru-RU" err="1"/>
              <a:t>PyMuPDF</a:t>
            </a:r>
            <a:r>
              <a:rPr dirty="0" lang="ru-RU"/>
              <a:t> / </a:t>
            </a:r>
            <a:r>
              <a:rPr dirty="0" lang="ru-RU" err="1"/>
              <a:t>Tesseract</a:t>
            </a:r>
            <a:r>
              <a:rPr dirty="0" lang="ru-RU"/>
              <a:t> / гибрид)</a:t>
            </a:r>
          </a:p>
          <a:p>
            <a:r>
              <a:rPr dirty="0" lang="ru-RU"/>
              <a:t>Извлечение структуры (Layout-анализ)</a:t>
            </a:r>
          </a:p>
          <a:p>
            <a:r>
              <a:rPr dirty="0" lang="ru-RU"/>
              <a:t>Извлечение метаданных (номер, дата, автор, версия)</a:t>
            </a:r>
          </a:p>
          <a:p>
            <a:r>
              <a:rPr dirty="0" lang="ru-RU"/>
              <a:t>Обнаружение технических параметров:</a:t>
            </a:r>
          </a:p>
          <a:p>
            <a:pPr lvl="1"/>
            <a:r>
              <a:rPr dirty="0" lang="ru-RU"/>
              <a:t>числа, единицы измерения (нормализация через </a:t>
            </a:r>
            <a:r>
              <a:rPr dirty="0" lang="ru-RU" err="1"/>
              <a:t>Pint</a:t>
            </a:r>
            <a:r>
              <a:rPr dirty="0" lang="ru-RU"/>
              <a:t>);</a:t>
            </a:r>
          </a:p>
          <a:p>
            <a:pPr lvl="1"/>
            <a:r>
              <a:rPr dirty="0" lang="ru-RU"/>
              <a:t>химические формулы;</a:t>
            </a:r>
          </a:p>
          <a:p>
            <a:pPr lvl="1"/>
            <a:r>
              <a:rPr dirty="0" lang="ru-RU"/>
              <a:t>математические формулы.</a:t>
            </a:r>
          </a:p>
          <a:p>
            <a:r>
              <a:rPr dirty="0" lang="ru-RU" err="1"/>
              <a:t>Валидация</a:t>
            </a:r>
            <a:r>
              <a:rPr dirty="0" lang="ru-RU"/>
              <a:t> через сверку с эталонными шаблонами (ГОСТ, ISO, ТУ)</a:t>
            </a:r>
          </a:p>
          <a:p>
            <a:r>
              <a:rPr dirty="0" lang="ru-RU"/>
              <a:t>Обогащение для RAG-систем</a:t>
            </a:r>
          </a:p>
          <a:p>
            <a:r>
              <a:rPr dirty="0" lang="ru-RU"/>
              <a:t>Сохранение в корпоративное хранилище и векторные БД</a:t>
            </a:r>
          </a:p>
          <a:p>
            <a:r>
              <a:rPr dirty="0" lang="ru-RU" err="1"/>
              <a:t>Логирование</a:t>
            </a:r>
            <a:r>
              <a:rPr dirty="0" lang="ru-RU"/>
              <a:t>: время, статус, ошибки</a:t>
            </a:r>
          </a:p>
          <a:p>
            <a:r>
              <a:rPr dirty="0" lang="ru-RU"/>
              <a:t>Отправка уведомления в систему мониторинга</a:t>
            </a:r>
          </a:p>
          <a:p>
            <a:endParaRPr dirty="0"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6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b="1" dirty="0" lang="en-US"/>
              <a:t>Web-</a:t>
            </a:r>
            <a:r>
              <a:rPr b="1" dirty="0" lang="ru-RU" err="1" smtClean="0"/>
              <a:t>скрапинг</a:t>
            </a:r>
            <a:endParaRPr dirty="0" lang="ru-RU"/>
          </a:p>
        </p:txBody>
      </p:sp>
      <p:sp>
        <p:nvSpPr>
          <p:cNvPr id="1048617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p>
            <a:r>
              <a:rPr b="1" dirty="0" lang="ru-RU"/>
              <a:t>Цель:</a:t>
            </a:r>
            <a:r>
              <a:rPr dirty="0" lang="ru-RU"/>
              <a:t> Автоматический сбор данных с сайтов поставщиков, порталов, торговых площадок.</a:t>
            </a:r>
          </a:p>
          <a:p>
            <a:r>
              <a:rPr b="1" dirty="0" lang="ru-RU"/>
              <a:t>Что собираем:</a:t>
            </a:r>
            <a:endParaRPr dirty="0" lang="ru-RU"/>
          </a:p>
          <a:p>
            <a:pPr lvl="1"/>
            <a:r>
              <a:rPr dirty="0" lang="ru-RU"/>
              <a:t>цены на сырьё и оборудование;</a:t>
            </a:r>
          </a:p>
          <a:p>
            <a:pPr lvl="1"/>
            <a:r>
              <a:rPr dirty="0" lang="ru-RU"/>
              <a:t>технические характеристики;</a:t>
            </a:r>
          </a:p>
          <a:p>
            <a:pPr lvl="1"/>
            <a:r>
              <a:rPr dirty="0" lang="ru-RU"/>
              <a:t>нормативная документация;</a:t>
            </a:r>
          </a:p>
          <a:p>
            <a:pPr lvl="1"/>
            <a:r>
              <a:rPr dirty="0" lang="ru-RU"/>
              <a:t>данные о конкурентах.</a:t>
            </a:r>
          </a:p>
          <a:p>
            <a:r>
              <a:rPr b="1" dirty="0" lang="ru-RU"/>
              <a:t>Проблемы:</a:t>
            </a:r>
            <a:endParaRPr dirty="0" lang="ru-RU"/>
          </a:p>
          <a:p>
            <a:pPr lvl="1"/>
            <a:r>
              <a:rPr dirty="0" lang="ru-RU"/>
              <a:t>40% сайтов — </a:t>
            </a:r>
            <a:r>
              <a:rPr dirty="0" lang="ru-RU" err="1"/>
              <a:t>антибот-защита</a:t>
            </a:r>
            <a:r>
              <a:rPr dirty="0" lang="ru-RU"/>
              <a:t> </a:t>
            </a:r>
            <a:r>
              <a:rPr dirty="0" lang="ru-RU" err="1"/>
              <a:t>Cloudflare</a:t>
            </a:r>
            <a:r>
              <a:rPr dirty="0" lang="ru-RU"/>
              <a:t>/</a:t>
            </a:r>
            <a:r>
              <a:rPr dirty="0" lang="ru-RU" err="1"/>
              <a:t>Akamai</a:t>
            </a:r>
            <a:r>
              <a:rPr dirty="0" lang="ru-RU"/>
              <a:t>;</a:t>
            </a:r>
          </a:p>
          <a:p>
            <a:pPr lvl="1"/>
            <a:r>
              <a:rPr dirty="0" lang="ru-RU"/>
              <a:t>30% — динамические SPA-приложения;</a:t>
            </a:r>
          </a:p>
          <a:p>
            <a:pPr lvl="1"/>
            <a:r>
              <a:rPr dirty="0" lang="ru-RU"/>
              <a:t>научно-технические страницы: </a:t>
            </a:r>
            <a:r>
              <a:rPr dirty="0" lang="ru-RU" err="1"/>
              <a:t>MathML</a:t>
            </a:r>
            <a:r>
              <a:rPr dirty="0" lang="ru-RU"/>
              <a:t>, </a:t>
            </a:r>
            <a:r>
              <a:rPr dirty="0" lang="ru-RU" err="1"/>
              <a:t>MathJax</a:t>
            </a:r>
            <a:r>
              <a:rPr dirty="0" lang="ru-RU"/>
              <a:t>, SMILES, </a:t>
            </a:r>
            <a:r>
              <a:rPr dirty="0" lang="ru-RU" err="1"/>
              <a:t>InChI</a:t>
            </a:r>
            <a:r>
              <a:rPr dirty="0" lang="ru-RU"/>
              <a:t>.</a:t>
            </a:r>
          </a:p>
          <a:p>
            <a:r>
              <a:rPr b="1" dirty="0" lang="ru-RU"/>
              <a:t>Требования к точности:</a:t>
            </a:r>
            <a:endParaRPr dirty="0" lang="ru-RU"/>
          </a:p>
          <a:p>
            <a:pPr lvl="1"/>
            <a:r>
              <a:rPr dirty="0" lang="ru-RU"/>
              <a:t>цены → &gt; 95%;</a:t>
            </a:r>
          </a:p>
          <a:p>
            <a:pPr lvl="1"/>
            <a:r>
              <a:rPr dirty="0" lang="ru-RU"/>
              <a:t>технические параметры → &gt; 90%.</a:t>
            </a:r>
          </a:p>
          <a:p>
            <a:endParaRPr dirty="0"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7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b="1" dirty="0" lang="ru-RU"/>
              <a:t>Инструменты и алгоритм </a:t>
            </a:r>
            <a:r>
              <a:rPr b="1" dirty="0" lang="en-US"/>
              <a:t>Web-</a:t>
            </a:r>
            <a:r>
              <a:rPr b="1" dirty="0" lang="ru-RU" err="1" smtClean="0"/>
              <a:t>скрапинга</a:t>
            </a:r>
            <a:endParaRPr dirty="0" lang="ru-RU"/>
          </a:p>
        </p:txBody>
      </p:sp>
      <p:sp>
        <p:nvSpPr>
          <p:cNvPr id="1048598" name="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b="1" dirty="0" lang="ru-RU" smtClean="0"/>
              <a:t>Алгоритм:</a:t>
            </a:r>
            <a:r>
              <a:rPr dirty="0" lang="ru-RU"/>
              <a:t> загрузка </a:t>
            </a:r>
            <a:r>
              <a:rPr dirty="0" lang="en-US"/>
              <a:t>URL → robots.txt → HTML → </a:t>
            </a:r>
            <a:r>
              <a:rPr dirty="0" lang="ru-RU" err="1"/>
              <a:t>антибот-проверка</a:t>
            </a:r>
            <a:r>
              <a:rPr dirty="0" lang="ru-RU"/>
              <a:t> → </a:t>
            </a:r>
            <a:r>
              <a:rPr dirty="0" lang="ru-RU" err="1"/>
              <a:t>рендеринг</a:t>
            </a:r>
            <a:r>
              <a:rPr dirty="0" lang="ru-RU"/>
              <a:t> </a:t>
            </a:r>
            <a:r>
              <a:rPr dirty="0" lang="en-US"/>
              <a:t>SPA → </a:t>
            </a:r>
            <a:r>
              <a:rPr dirty="0" lang="ru-RU"/>
              <a:t>извлечение цен → технических параметров → </a:t>
            </a:r>
            <a:r>
              <a:rPr dirty="0" lang="en-US"/>
              <a:t>JSON-LD → </a:t>
            </a:r>
            <a:r>
              <a:rPr dirty="0" lang="ru-RU"/>
              <a:t>нормализация валют → нормализация единиц → сохранение в БД → </a:t>
            </a:r>
            <a:r>
              <a:rPr dirty="0" lang="ru-RU" err="1"/>
              <a:t>логирование</a:t>
            </a:r>
            <a:r>
              <a:rPr dirty="0" lang="ru-RU"/>
              <a:t> → метрики в </a:t>
            </a:r>
            <a:r>
              <a:rPr dirty="0" lang="en-US"/>
              <a:t>Prometheus.</a:t>
            </a:r>
            <a:endParaRPr dirty="0" 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4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5455"/>
          </a:bodyPr>
          <a:p>
            <a:r>
              <a:rPr b="1" dirty="0" lang="ru-RU"/>
              <a:t>Инструменты по типу </a:t>
            </a:r>
            <a:r>
              <a:rPr b="1" dirty="0" lang="ru-RU" err="1"/>
              <a:t>контента</a:t>
            </a:r>
            <a:endParaRPr dirty="0" lang="ru-RU"/>
          </a:p>
        </p:txBody>
      </p:sp>
      <p:graphicFrame>
        <p:nvGraphicFramePr>
          <p:cNvPr id="4194304" name="Содержимое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323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6688"/>
                <a:gridCol w="5122912"/>
              </a:tblGrid>
              <a:tr h="370840"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Тип </a:t>
                      </a:r>
                      <a:r>
                        <a:rPr b="0" dirty="0" sz="1800" i="0" kern="1200" lang="ru-RU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контента</a:t>
                      </a:r>
                      <a:endParaRPr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Инструменты</a:t>
                      </a:r>
                      <a:endParaRPr dirty="0" lang="ru-RU"/>
                    </a:p>
                  </a:txBody>
                </a:tc>
              </a:tr>
              <a:tr h="370840"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Статические страницы</a:t>
                      </a:r>
                      <a:endParaRPr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en-US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Trafilatura</a:t>
                      </a:r>
                      <a:r>
                        <a:rPr b="0" dirty="0" sz="18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newspaper3k, Readability, boilerpy3</a:t>
                      </a:r>
                      <a:endParaRPr dirty="0" lang="ru-RU"/>
                    </a:p>
                  </a:txBody>
                </a:tc>
              </a:tr>
              <a:tr h="370840"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Динамические </a:t>
                      </a:r>
                      <a:r>
                        <a:rPr b="0" dirty="0" sz="18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SPA</a:t>
                      </a:r>
                      <a:endParaRPr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Playwright, Puppeteer</a:t>
                      </a:r>
                      <a:endParaRPr dirty="0" lang="ru-RU"/>
                    </a:p>
                  </a:txBody>
                </a:tc>
              </a:tr>
              <a:tr h="370840"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Обход </a:t>
                      </a:r>
                      <a:r>
                        <a:rPr b="0" dirty="0" sz="1800" i="0" kern="1200" lang="ru-RU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антибот</a:t>
                      </a:r>
                      <a:endParaRPr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Ротация </a:t>
                      </a:r>
                      <a:r>
                        <a:rPr b="0" dirty="0" sz="18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User-Agent, </a:t>
                      </a:r>
                      <a:r>
                        <a:rPr b="0" dirty="0" sz="1800" i="0" kern="1200" lang="ru-RU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прокси-пулы</a:t>
                      </a:r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b="0" dirty="0" sz="18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stealth-</a:t>
                      </a:r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режимы, 2</a:t>
                      </a:r>
                      <a:r>
                        <a:rPr b="0" dirty="0" sz="1800" i="0" kern="1200" lang="en-US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Captcha</a:t>
                      </a:r>
                      <a:endParaRPr dirty="0" lang="ru-RU"/>
                    </a:p>
                  </a:txBody>
                </a:tc>
              </a:tr>
              <a:tr h="370840">
                <a:tc>
                  <a:txBody>
                    <a:bodyPr/>
                    <a:p>
                      <a:r>
                        <a:rPr b="0" dirty="0" sz="18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LLM-</a:t>
                      </a:r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экстракторы</a:t>
                      </a:r>
                      <a:endParaRPr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en-US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LLMParser</a:t>
                      </a:r>
                      <a:r>
                        <a:rPr b="0" dirty="0" sz="18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b="0" dirty="0" sz="1800" i="0" kern="1200" lang="en-US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Scrag</a:t>
                      </a:r>
                      <a:r>
                        <a:rPr b="0" dirty="0" sz="18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Crawl4ai, </a:t>
                      </a:r>
                      <a:r>
                        <a:rPr b="0" dirty="0" sz="1800" i="0" kern="1200" lang="en-US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Firecrawl</a:t>
                      </a:r>
                      <a:endParaRPr dirty="0" lang="ru-RU"/>
                    </a:p>
                  </a:txBody>
                </a:tc>
              </a:tr>
              <a:tr h="370840"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Структурированные данные</a:t>
                      </a:r>
                      <a:endParaRPr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JSON-LD, </a:t>
                      </a:r>
                      <a:r>
                        <a:rPr b="0" dirty="0" sz="1800" i="0" kern="1200" lang="en-US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Microdata</a:t>
                      </a:r>
                      <a:r>
                        <a:rPr b="0" dirty="0" sz="18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b="0" dirty="0" sz="1800" i="0" kern="1200" lang="en-US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RDFa</a:t>
                      </a:r>
                      <a:r>
                        <a:rPr b="0" dirty="0" sz="18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b="0" dirty="0" sz="1800" i="0" kern="1200" lang="en-US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extruct</a:t>
                      </a:r>
                      <a:r>
                        <a:rPr b="0" dirty="0" sz="18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dirty="0" lang="ru-RU"/>
                    </a:p>
                  </a:txBody>
                </a:tc>
              </a:tr>
              <a:tr h="370840"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Математика</a:t>
                      </a:r>
                      <a:endParaRPr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en-US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MathJax</a:t>
                      </a:r>
                      <a:r>
                        <a:rPr b="0" dirty="0" sz="18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API, </a:t>
                      </a:r>
                      <a:r>
                        <a:rPr b="0" dirty="0" sz="1800" i="0" kern="1200" lang="en-US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Pandoc</a:t>
                      </a:r>
                      <a:r>
                        <a:rPr b="0" dirty="0" sz="18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b="0" dirty="0" sz="1800" i="0" kern="1200" lang="en-US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MathML→LaTeX</a:t>
                      </a:r>
                      <a:r>
                        <a:rPr b="0" dirty="0" sz="18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dirty="0" lang="ru-RU"/>
                    </a:p>
                  </a:txBody>
                </a:tc>
              </a:tr>
              <a:tr h="370840"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Химия</a:t>
                      </a:r>
                      <a:endParaRPr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en-US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ChemDataExtractor</a:t>
                      </a:r>
                      <a:r>
                        <a:rPr b="0" dirty="0" sz="18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b="0" dirty="0" sz="1800" i="0" kern="1200" lang="en-US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RDKit</a:t>
                      </a:r>
                      <a:r>
                        <a:rPr b="0" dirty="0" sz="18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OPSIN</a:t>
                      </a:r>
                      <a:endParaRPr dirty="0" lang="ru-RU"/>
                    </a:p>
                  </a:txBody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0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b="1" dirty="0" lang="ru-RU"/>
              <a:t>Офисные </a:t>
            </a:r>
            <a:r>
              <a:rPr b="1" dirty="0" lang="ru-RU" smtClean="0"/>
              <a:t>форматы</a:t>
            </a:r>
            <a:endParaRPr dirty="0" lang="ru-RU"/>
          </a:p>
        </p:txBody>
      </p:sp>
      <p:sp>
        <p:nvSpPr>
          <p:cNvPr id="1048591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77143" lnSpcReduction="20000"/>
          </a:bodyPr>
          <a:p>
            <a:r>
              <a:rPr b="1" dirty="0" lang="ru-RU"/>
              <a:t>Проблемы:</a:t>
            </a:r>
            <a:endParaRPr dirty="0" lang="ru-RU"/>
          </a:p>
          <a:p>
            <a:pPr lvl="1"/>
            <a:r>
              <a:rPr dirty="0" lang="ru-RU"/>
              <a:t>встроенные </a:t>
            </a:r>
            <a:r>
              <a:rPr dirty="0" lang="en-US"/>
              <a:t>OLE-</a:t>
            </a:r>
            <a:r>
              <a:rPr dirty="0" lang="ru-RU"/>
              <a:t>объекты (</a:t>
            </a:r>
            <a:r>
              <a:rPr dirty="0" lang="en-US"/>
              <a:t>Excel </a:t>
            </a:r>
            <a:r>
              <a:rPr dirty="0" lang="ru-RU"/>
              <a:t>внутри </a:t>
            </a:r>
            <a:r>
              <a:rPr dirty="0" lang="en-US"/>
              <a:t>Word, </a:t>
            </a:r>
            <a:r>
              <a:rPr dirty="0" lang="ru-RU"/>
              <a:t>диаграммы в </a:t>
            </a:r>
            <a:r>
              <a:rPr dirty="0" lang="en-US"/>
              <a:t>PPTX);</a:t>
            </a:r>
          </a:p>
          <a:p>
            <a:pPr lvl="1"/>
            <a:r>
              <a:rPr dirty="0" lang="ru-RU"/>
              <a:t>формулы </a:t>
            </a:r>
            <a:r>
              <a:rPr dirty="0" lang="en-US"/>
              <a:t>Equation Editor (OMML);</a:t>
            </a:r>
          </a:p>
          <a:p>
            <a:pPr lvl="1"/>
            <a:r>
              <a:rPr dirty="0" lang="ru-RU"/>
              <a:t>химические структуры </a:t>
            </a:r>
            <a:r>
              <a:rPr dirty="0" lang="en-US" err="1"/>
              <a:t>ChemDraw</a:t>
            </a:r>
            <a:r>
              <a:rPr dirty="0" lang="en-US"/>
              <a:t>;</a:t>
            </a:r>
          </a:p>
          <a:p>
            <a:pPr lvl="1"/>
            <a:r>
              <a:rPr dirty="0" lang="ru-RU"/>
              <a:t>объединённые ячейки в </a:t>
            </a:r>
            <a:r>
              <a:rPr dirty="0" lang="en-US"/>
              <a:t>Excel;</a:t>
            </a:r>
          </a:p>
          <a:p>
            <a:pPr lvl="1"/>
            <a:r>
              <a:rPr dirty="0" lang="ru-RU"/>
              <a:t>заметки докладчика в </a:t>
            </a:r>
            <a:r>
              <a:rPr dirty="0" lang="en-US"/>
              <a:t>PPTX.</a:t>
            </a:r>
          </a:p>
          <a:p>
            <a:r>
              <a:rPr b="1" dirty="0" lang="ru-RU"/>
              <a:t>Инструменты:</a:t>
            </a:r>
            <a:endParaRPr dirty="0" lang="ru-RU"/>
          </a:p>
          <a:p>
            <a:pPr lvl="1"/>
            <a:r>
              <a:rPr dirty="0" lang="en-US"/>
              <a:t>DOCX: python-</a:t>
            </a:r>
            <a:r>
              <a:rPr dirty="0" lang="en-US" err="1"/>
              <a:t>docx</a:t>
            </a:r>
            <a:r>
              <a:rPr dirty="0" lang="en-US"/>
              <a:t>, docx2txt, </a:t>
            </a:r>
            <a:r>
              <a:rPr dirty="0" lang="en-US" err="1"/>
              <a:t>lxml</a:t>
            </a:r>
            <a:r>
              <a:rPr dirty="0" lang="en-US"/>
              <a:t>, </a:t>
            </a:r>
            <a:r>
              <a:rPr dirty="0" lang="en-US" err="1"/>
              <a:t>LibreOffice</a:t>
            </a:r>
            <a:endParaRPr dirty="0" lang="en-US"/>
          </a:p>
          <a:p>
            <a:pPr lvl="1"/>
            <a:r>
              <a:rPr dirty="0" lang="en-US"/>
              <a:t>PPTX: python-</a:t>
            </a:r>
            <a:r>
              <a:rPr dirty="0" lang="en-US" err="1"/>
              <a:t>pptx</a:t>
            </a:r>
            <a:r>
              <a:rPr dirty="0" lang="en-US"/>
              <a:t>, </a:t>
            </a:r>
            <a:r>
              <a:rPr dirty="0" lang="en-US" err="1"/>
              <a:t>LibreOffice</a:t>
            </a:r>
            <a:endParaRPr dirty="0" lang="en-US"/>
          </a:p>
          <a:p>
            <a:pPr lvl="1"/>
            <a:r>
              <a:rPr dirty="0" lang="en-US"/>
              <a:t>XLSX: </a:t>
            </a:r>
            <a:r>
              <a:rPr dirty="0" lang="en-US" err="1"/>
              <a:t>openpyxl</a:t>
            </a:r>
            <a:r>
              <a:rPr dirty="0" lang="en-US"/>
              <a:t>, pandas, </a:t>
            </a:r>
            <a:r>
              <a:rPr dirty="0" lang="en-US" err="1"/>
              <a:t>xlrd</a:t>
            </a:r>
            <a:endParaRPr dirty="0" lang="en-US"/>
          </a:p>
          <a:p>
            <a:pPr lvl="1"/>
            <a:r>
              <a:rPr dirty="0" lang="en-US"/>
              <a:t>OMML → </a:t>
            </a:r>
            <a:r>
              <a:rPr dirty="0" lang="en-US" err="1"/>
              <a:t>LaTeX</a:t>
            </a:r>
            <a:r>
              <a:rPr dirty="0" lang="en-US"/>
              <a:t>: </a:t>
            </a:r>
            <a:r>
              <a:rPr dirty="0" lang="en-US" err="1"/>
              <a:t>Pandoc</a:t>
            </a:r>
            <a:r>
              <a:rPr dirty="0" lang="en-US"/>
              <a:t>, </a:t>
            </a:r>
            <a:r>
              <a:rPr dirty="0" lang="en-US" err="1"/>
              <a:t>omnllatex</a:t>
            </a:r>
            <a:r>
              <a:rPr dirty="0" lang="en-US"/>
              <a:t>, mathml2latex</a:t>
            </a:r>
          </a:p>
          <a:p>
            <a:pPr lvl="1"/>
            <a:r>
              <a:rPr dirty="0" lang="en-US" err="1"/>
              <a:t>ChemDraw</a:t>
            </a:r>
            <a:r>
              <a:rPr dirty="0" lang="en-US"/>
              <a:t> → SMILES: </a:t>
            </a:r>
            <a:r>
              <a:rPr dirty="0" lang="en-US" err="1"/>
              <a:t>RDKit</a:t>
            </a:r>
            <a:r>
              <a:rPr dirty="0" lang="en-US"/>
              <a:t>, OPSIN, </a:t>
            </a:r>
            <a:r>
              <a:rPr dirty="0" lang="en-US" err="1"/>
              <a:t>OpenBabel</a:t>
            </a:r>
            <a:endParaRPr dirty="0" lang="en-US"/>
          </a:p>
          <a:p>
            <a:pPr lvl="1"/>
            <a:r>
              <a:rPr dirty="0" lang="en-US"/>
              <a:t>OLE-</a:t>
            </a:r>
            <a:r>
              <a:rPr dirty="0" lang="ru-RU"/>
              <a:t>объекты: </a:t>
            </a:r>
            <a:r>
              <a:rPr dirty="0" lang="en-US" err="1"/>
              <a:t>olefile</a:t>
            </a:r>
            <a:r>
              <a:rPr dirty="0" lang="en-US"/>
              <a:t>, </a:t>
            </a:r>
            <a:r>
              <a:rPr dirty="0" lang="en-US" err="1"/>
              <a:t>oletools</a:t>
            </a:r>
            <a:endParaRPr dirty="0" lang="en-US"/>
          </a:p>
          <a:p>
            <a:endParaRPr dirty="0" lang="ru-RU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b="1" dirty="0" lang="ru-RU"/>
              <a:t>Семантическое разбиение на </a:t>
            </a:r>
            <a:r>
              <a:rPr b="1" dirty="0" lang="ru-RU" smtClean="0"/>
              <a:t>блоки</a:t>
            </a:r>
            <a:endParaRPr dirty="0" lang="ru-RU"/>
          </a:p>
        </p:txBody>
      </p:sp>
      <p:sp>
        <p:nvSpPr>
          <p:cNvPr id="1048587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b="1" dirty="0" lang="ru-RU"/>
              <a:t>Цель:</a:t>
            </a:r>
            <a:r>
              <a:rPr dirty="0" lang="ru-RU"/>
              <a:t> Адаптация под контекстное окно БЯМ + сохранение смысла.</a:t>
            </a:r>
          </a:p>
          <a:p>
            <a:r>
              <a:rPr b="1" dirty="0" lang="ru-RU"/>
              <a:t>Требования:</a:t>
            </a:r>
            <a:endParaRPr dirty="0" lang="ru-RU"/>
          </a:p>
          <a:p>
            <a:pPr lvl="1"/>
            <a:r>
              <a:rPr dirty="0" lang="ru-RU"/>
              <a:t>размер блока: </a:t>
            </a:r>
            <a:r>
              <a:rPr b="1" dirty="0" lang="ru-RU"/>
              <a:t>512–1024 </a:t>
            </a:r>
            <a:r>
              <a:rPr b="1" dirty="0" lang="ru-RU" err="1"/>
              <a:t>токена</a:t>
            </a:r>
            <a:r>
              <a:rPr dirty="0" lang="ru-RU"/>
              <a:t>;</a:t>
            </a:r>
          </a:p>
          <a:p>
            <a:pPr lvl="1"/>
            <a:r>
              <a:rPr dirty="0" lang="ru-RU"/>
              <a:t>перекрытие: </a:t>
            </a:r>
            <a:r>
              <a:rPr b="1" dirty="0" lang="ru-RU"/>
              <a:t>10–20%</a:t>
            </a:r>
            <a:r>
              <a:rPr dirty="0" lang="ru-RU"/>
              <a:t>;</a:t>
            </a:r>
          </a:p>
          <a:p>
            <a:pPr lvl="1"/>
            <a:r>
              <a:rPr dirty="0" lang="ru-RU"/>
              <a:t>целостность формул, чисел с единицами, таблиц;</a:t>
            </a:r>
          </a:p>
          <a:p>
            <a:pPr lvl="1"/>
            <a:r>
              <a:rPr dirty="0" lang="ru-RU"/>
              <a:t>сохранение смысловой целостности (не разрывать предложения и абзацы).</a:t>
            </a:r>
          </a:p>
          <a:p>
            <a:endParaRPr dirty="0" lang="ru-RU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b="1" dirty="0" lang="ru-RU"/>
              <a:t>Инструменты </a:t>
            </a:r>
            <a:r>
              <a:rPr b="1" dirty="0" lang="en-US" smtClean="0"/>
              <a:t>Chunking</a:t>
            </a:r>
            <a:endParaRPr dirty="0" lang="ru-RU"/>
          </a:p>
        </p:txBody>
      </p:sp>
      <p:sp>
        <p:nvSpPr>
          <p:cNvPr id="1048589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83750" lnSpcReduction="20000"/>
          </a:bodyPr>
          <a:p>
            <a:r>
              <a:rPr b="1" dirty="0" lang="ru-RU"/>
              <a:t>Инструменты:</a:t>
            </a:r>
            <a:endParaRPr dirty="0" lang="ru-RU"/>
          </a:p>
          <a:p>
            <a:r>
              <a:rPr dirty="0" lang="ru-RU"/>
              <a:t>Базовые: </a:t>
            </a:r>
            <a:r>
              <a:rPr dirty="0" lang="en-US" err="1"/>
              <a:t>CharacterTextSplitter</a:t>
            </a:r>
            <a:r>
              <a:rPr dirty="0" lang="en-US"/>
              <a:t>, </a:t>
            </a:r>
            <a:r>
              <a:rPr dirty="0" lang="en-US" err="1"/>
              <a:t>RecursiveCharacterTextSplitter</a:t>
            </a:r>
            <a:r>
              <a:rPr dirty="0" lang="en-US"/>
              <a:t> (</a:t>
            </a:r>
            <a:r>
              <a:rPr dirty="0" lang="en-US" err="1"/>
              <a:t>LangChain</a:t>
            </a:r>
            <a:r>
              <a:rPr dirty="0" lang="en-US"/>
              <a:t>)</a:t>
            </a:r>
          </a:p>
          <a:p>
            <a:r>
              <a:rPr dirty="0" lang="ru-RU"/>
              <a:t>Семантические: </a:t>
            </a:r>
            <a:r>
              <a:rPr dirty="0" lang="en-US" err="1"/>
              <a:t>SemanticChunker</a:t>
            </a:r>
            <a:r>
              <a:rPr dirty="0" lang="en-US"/>
              <a:t> (</a:t>
            </a:r>
            <a:r>
              <a:rPr dirty="0" lang="en-US" err="1"/>
              <a:t>LangChain</a:t>
            </a:r>
            <a:r>
              <a:rPr dirty="0" lang="en-US"/>
              <a:t>), </a:t>
            </a:r>
            <a:r>
              <a:rPr dirty="0" lang="en-US" err="1"/>
              <a:t>SentenceTransformers</a:t>
            </a:r>
            <a:r>
              <a:rPr dirty="0" lang="en-US"/>
              <a:t> (</a:t>
            </a:r>
            <a:r>
              <a:rPr dirty="0" lang="en-US" err="1"/>
              <a:t>spaCy</a:t>
            </a:r>
            <a:r>
              <a:rPr dirty="0" lang="en-US"/>
              <a:t>)</a:t>
            </a:r>
          </a:p>
          <a:p>
            <a:r>
              <a:rPr dirty="0" lang="ru-RU"/>
              <a:t>Оптимизация размера: </a:t>
            </a:r>
            <a:r>
              <a:rPr dirty="0" lang="en-US" err="1"/>
              <a:t>tiktoken</a:t>
            </a:r>
            <a:r>
              <a:rPr dirty="0" lang="en-US"/>
              <a:t> (</a:t>
            </a:r>
            <a:r>
              <a:rPr dirty="0" lang="en-US" err="1"/>
              <a:t>OpenAI</a:t>
            </a:r>
            <a:r>
              <a:rPr dirty="0" lang="en-US"/>
              <a:t>), </a:t>
            </a:r>
            <a:r>
              <a:rPr dirty="0" lang="en-US" err="1"/>
              <a:t>AutoTokenizer</a:t>
            </a:r>
            <a:r>
              <a:rPr dirty="0" lang="en-US"/>
              <a:t> (HF)</a:t>
            </a:r>
          </a:p>
          <a:p>
            <a:r>
              <a:rPr dirty="0" lang="ru-RU"/>
              <a:t>Иерархические: </a:t>
            </a:r>
            <a:r>
              <a:rPr dirty="0" lang="en-US" err="1"/>
              <a:t>MarkdownHeaderTextSplitter</a:t>
            </a:r>
            <a:r>
              <a:rPr dirty="0" lang="en-US"/>
              <a:t>, </a:t>
            </a:r>
            <a:r>
              <a:rPr dirty="0" lang="en-US" err="1"/>
              <a:t>HTMLHeaderTextSplitter</a:t>
            </a:r>
            <a:endParaRPr dirty="0" lang="en-US"/>
          </a:p>
          <a:p>
            <a:r>
              <a:rPr dirty="0" lang="en-US" err="1"/>
              <a:t>LaTeX</a:t>
            </a:r>
            <a:r>
              <a:rPr dirty="0" lang="en-US"/>
              <a:t>-aware: </a:t>
            </a:r>
            <a:r>
              <a:rPr dirty="0" lang="ru-RU" err="1"/>
              <a:t>кастомные</a:t>
            </a:r>
            <a:r>
              <a:rPr dirty="0" lang="ru-RU"/>
              <a:t> регулярные выражения + </a:t>
            </a:r>
            <a:r>
              <a:rPr dirty="0" lang="en-US"/>
              <a:t>latex2text</a:t>
            </a:r>
          </a:p>
          <a:p>
            <a:r>
              <a:rPr dirty="0" lang="en-US"/>
              <a:t>LLM-</a:t>
            </a:r>
            <a:r>
              <a:rPr dirty="0" lang="ru-RU"/>
              <a:t>управляемые: </a:t>
            </a:r>
            <a:r>
              <a:rPr dirty="0" lang="en-US"/>
              <a:t>GPT-4o, Claude-3.5-Sonnet</a:t>
            </a:r>
          </a:p>
          <a:p>
            <a:endParaRPr dirty="0" lang="ru-RU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b="1" dirty="0" lang="ru-RU" smtClean="0"/>
              <a:t>М</a:t>
            </a:r>
            <a:r>
              <a:rPr b="1" dirty="0" lang="ru-RU" smtClean="0"/>
              <a:t>етрики </a:t>
            </a:r>
            <a:r>
              <a:rPr b="1" dirty="0" lang="en-US" smtClean="0"/>
              <a:t>Chunking</a:t>
            </a:r>
            <a:endParaRPr dirty="0" lang="ru-RU"/>
          </a:p>
        </p:txBody>
      </p:sp>
      <p:sp>
        <p:nvSpPr>
          <p:cNvPr id="1048593" name="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dirty="0" lang="ru-RU"/>
              <a:t>средний размер блока;</a:t>
            </a:r>
          </a:p>
          <a:p>
            <a:r>
              <a:rPr dirty="0" lang="ru-RU"/>
              <a:t>стандартное отклонение размера (≤ 200 </a:t>
            </a:r>
            <a:r>
              <a:rPr dirty="0" lang="ru-RU" err="1"/>
              <a:t>токенов</a:t>
            </a:r>
            <a:r>
              <a:rPr dirty="0" lang="ru-RU"/>
              <a:t>);</a:t>
            </a:r>
          </a:p>
          <a:p>
            <a:r>
              <a:rPr dirty="0" lang="ru-RU"/>
              <a:t>доля разорванных предложений (≤ 5%);</a:t>
            </a:r>
          </a:p>
          <a:p>
            <a:r>
              <a:rPr dirty="0" lang="ru-RU"/>
              <a:t>доля разорванных абзацев (≤ 2%);</a:t>
            </a:r>
          </a:p>
          <a:p>
            <a:r>
              <a:rPr dirty="0" lang="ru-RU"/>
              <a:t>процент разорванных формул (→ 0);</a:t>
            </a:r>
          </a:p>
          <a:p>
            <a:r>
              <a:rPr dirty="0" lang="ru-RU" err="1"/>
              <a:t>Hit</a:t>
            </a:r>
            <a:r>
              <a:rPr dirty="0" lang="ru-RU"/>
              <a:t> </a:t>
            </a:r>
            <a:r>
              <a:rPr dirty="0" lang="ru-RU" err="1"/>
              <a:t>Rate</a:t>
            </a:r>
            <a:r>
              <a:rPr dirty="0" lang="ru-RU"/>
              <a:t> при поиске (&gt; 90%).</a:t>
            </a:r>
          </a:p>
          <a:p>
            <a:endParaRPr dirty="0" lang="ru-RU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5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b="1" dirty="0" lang="ru-RU"/>
              <a:t>Очистка: что удаляем и </a:t>
            </a:r>
            <a:r>
              <a:rPr b="1" dirty="0" lang="ru-RU" smtClean="0"/>
              <a:t>зачем</a:t>
            </a:r>
            <a:endParaRPr dirty="0" lang="ru-RU"/>
          </a:p>
        </p:txBody>
      </p:sp>
      <p:sp>
        <p:nvSpPr>
          <p:cNvPr id="1048596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66071" lnSpcReduction="20000"/>
          </a:bodyPr>
          <a:p>
            <a:r>
              <a:rPr b="1" dirty="0" lang="ru-RU"/>
              <a:t>Цель:</a:t>
            </a:r>
            <a:r>
              <a:rPr dirty="0" lang="ru-RU"/>
              <a:t> Удалить шум, восстановить целостность, сохранить смысловую корректность.</a:t>
            </a:r>
          </a:p>
          <a:p>
            <a:r>
              <a:rPr b="1" dirty="0" lang="ru-RU"/>
              <a:t>Что считается шумом:</a:t>
            </a:r>
            <a:endParaRPr dirty="0" lang="ru-RU"/>
          </a:p>
          <a:p>
            <a:pPr lvl="1"/>
            <a:r>
              <a:rPr dirty="0" lang="ru-RU"/>
              <a:t>Непечатные и управляющие символы (ASCII &lt; 32, кроме \</a:t>
            </a:r>
            <a:r>
              <a:rPr dirty="0" lang="ru-RU" err="1"/>
              <a:t>n</a:t>
            </a:r>
            <a:r>
              <a:rPr dirty="0" lang="ru-RU"/>
              <a:t>, \</a:t>
            </a:r>
            <a:r>
              <a:rPr dirty="0" lang="ru-RU" err="1"/>
              <a:t>r</a:t>
            </a:r>
            <a:r>
              <a:rPr dirty="0" lang="ru-RU"/>
              <a:t>, \</a:t>
            </a:r>
            <a:r>
              <a:rPr dirty="0" lang="ru-RU" err="1"/>
              <a:t>t</a:t>
            </a:r>
            <a:r>
              <a:rPr dirty="0" lang="ru-RU"/>
              <a:t>)</a:t>
            </a:r>
          </a:p>
          <a:p>
            <a:pPr lvl="1"/>
            <a:r>
              <a:rPr dirty="0" lang="ru-RU"/>
              <a:t>Лишние пробелы и табуляции</a:t>
            </a:r>
          </a:p>
          <a:p>
            <a:pPr lvl="1"/>
            <a:r>
              <a:rPr dirty="0" lang="ru-RU"/>
              <a:t>HTML/XML-теги</a:t>
            </a:r>
          </a:p>
          <a:p>
            <a:pPr lvl="1"/>
            <a:r>
              <a:rPr dirty="0" lang="ru-RU" err="1"/>
              <a:t>Стоп-слова</a:t>
            </a:r>
            <a:r>
              <a:rPr dirty="0" lang="ru-RU"/>
              <a:t> (с осторожностью для технических текстов)</a:t>
            </a:r>
          </a:p>
          <a:p>
            <a:pPr lvl="1"/>
            <a:r>
              <a:rPr dirty="0" lang="ru-RU"/>
              <a:t>Персональные данные (GDPR, ФЗ-152)</a:t>
            </a:r>
          </a:p>
          <a:p>
            <a:pPr lvl="1"/>
            <a:r>
              <a:rPr dirty="0" lang="ru-RU"/>
              <a:t>OCR-шум (ошибки распознавания)</a:t>
            </a:r>
          </a:p>
          <a:p>
            <a:pPr lvl="1"/>
            <a:r>
              <a:rPr dirty="0" lang="ru-RU"/>
              <a:t>Искажённые числовые параметры (потеря разделителей, «,» вместо «.»)</a:t>
            </a:r>
          </a:p>
          <a:p>
            <a:pPr lvl="1"/>
            <a:r>
              <a:rPr dirty="0" lang="ru-RU"/>
              <a:t>Повреждённые формулы</a:t>
            </a:r>
          </a:p>
          <a:p>
            <a:pPr lvl="1"/>
            <a:r>
              <a:rPr dirty="0" lang="ru-RU"/>
              <a:t>Нарушенные структуры таблиц</a:t>
            </a:r>
          </a:p>
          <a:p>
            <a:pPr lvl="1"/>
            <a:r>
              <a:rPr dirty="0" lang="ru-RU"/>
              <a:t>Служебные метки (номера страниц, колонтитулы)</a:t>
            </a:r>
          </a:p>
          <a:p>
            <a:pPr lvl="1"/>
            <a:r>
              <a:rPr dirty="0" lang="ru-RU"/>
              <a:t>Единицы измерения в разных системах</a:t>
            </a:r>
          </a:p>
          <a:p>
            <a:endParaRPr dirty="0" lang="ru-RU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b="1" dirty="0" lang="ru-RU"/>
              <a:t>Эволюция методов </a:t>
            </a:r>
            <a:r>
              <a:rPr b="1" dirty="0" lang="ru-RU" smtClean="0"/>
              <a:t>очистки</a:t>
            </a:r>
            <a:endParaRPr dirty="0" lang="ru-RU"/>
          </a:p>
        </p:txBody>
      </p:sp>
      <p:graphicFrame>
        <p:nvGraphicFramePr>
          <p:cNvPr id="4194306" name="Содержимое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394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536"/>
                <a:gridCol w="3747864"/>
                <a:gridCol w="2743200"/>
              </a:tblGrid>
              <a:tr h="370840"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Период</a:t>
                      </a:r>
                      <a:endParaRPr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Подход</a:t>
                      </a:r>
                      <a:endParaRPr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Точность</a:t>
                      </a:r>
                      <a:endParaRPr dirty="0" lang="ru-RU"/>
                    </a:p>
                  </a:txBody>
                </a:tc>
              </a:tr>
              <a:tr h="370840"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1990–2000</a:t>
                      </a:r>
                      <a:endParaRPr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Правила, регулярные выражения (</a:t>
                      </a:r>
                      <a:r>
                        <a:rPr b="0" dirty="0" sz="1800" i="0" kern="1200" lang="ru-RU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</a:t>
                      </a:r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b="0" dirty="0" sz="1800" i="0" kern="1200" lang="ru-RU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grep</a:t>
                      </a:r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b="0" dirty="0" sz="1800" i="0" kern="1200" lang="ru-RU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sed</a:t>
                      </a:r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~ 60%</a:t>
                      </a:r>
                      <a:endParaRPr dirty="0" lang="ru-RU"/>
                    </a:p>
                  </a:txBody>
                </a:tc>
              </a:tr>
              <a:tr h="370840"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2005–2015</a:t>
                      </a:r>
                      <a:endParaRPr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Словарные методы (</a:t>
                      </a:r>
                      <a:r>
                        <a:rPr b="0" dirty="0" sz="1800" i="0" kern="1200" lang="en-US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hunspell</a:t>
                      </a:r>
                      <a:r>
                        <a:rPr b="0" dirty="0" sz="18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b="0" dirty="0" sz="1800" i="0" kern="1200" lang="en-US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pyspellchecker</a:t>
                      </a:r>
                      <a:r>
                        <a:rPr b="0" dirty="0" sz="18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70–75%</a:t>
                      </a:r>
                      <a:endParaRPr dirty="0" lang="ru-RU"/>
                    </a:p>
                  </a:txBody>
                </a:tc>
              </a:tr>
              <a:tr h="370840"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2015–2020</a:t>
                      </a:r>
                      <a:endParaRPr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CRF + NER (</a:t>
                      </a:r>
                      <a:r>
                        <a:rPr b="0" dirty="0" sz="1800" i="0" kern="1200" lang="en-US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spaCy</a:t>
                      </a:r>
                      <a:r>
                        <a:rPr b="0" dirty="0" sz="18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b="0" dirty="0" sz="1800" i="0" kern="1200" lang="en-US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DeepPavlov</a:t>
                      </a:r>
                      <a:r>
                        <a:rPr b="0" dirty="0" sz="18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~ 85%</a:t>
                      </a:r>
                      <a:endParaRPr dirty="0" lang="ru-RU"/>
                    </a:p>
                  </a:txBody>
                </a:tc>
              </a:tr>
              <a:tr h="370840"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2020–2023</a:t>
                      </a:r>
                      <a:endParaRPr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ru-RU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Трансформеры</a:t>
                      </a:r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b="0" dirty="0" sz="18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BERT, </a:t>
                      </a:r>
                      <a:r>
                        <a:rPr b="0" dirty="0" sz="1800" i="0" kern="1200" lang="en-US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RoBERTa</a:t>
                      </a:r>
                      <a:r>
                        <a:rPr b="0" dirty="0" sz="18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), Presidio </a:t>
                      </a:r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для </a:t>
                      </a:r>
                      <a:r>
                        <a:rPr b="0" dirty="0" sz="18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PII</a:t>
                      </a:r>
                      <a:endParaRPr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~ 95%</a:t>
                      </a:r>
                      <a:endParaRPr dirty="0" lang="ru-RU"/>
                    </a:p>
                  </a:txBody>
                </a:tc>
              </a:tr>
              <a:tr h="370840"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2024–наст.</a:t>
                      </a:r>
                      <a:endParaRPr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Гибрид: правила + </a:t>
                      </a:r>
                      <a:r>
                        <a:rPr b="0" dirty="0" sz="18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NER + </a:t>
                      </a:r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БЯМ + </a:t>
                      </a:r>
                      <a:r>
                        <a:rPr b="0" dirty="0" sz="18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LLM-as-a-judge</a:t>
                      </a:r>
                      <a:endParaRPr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&gt; 95%</a:t>
                      </a:r>
                      <a:endParaRPr dirty="0" lang="ru-RU"/>
                    </a:p>
                  </a:txBody>
                </a:tc>
              </a:tr>
              <a:tr h="370840"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Перспектива</a:t>
                      </a:r>
                      <a:endParaRPr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ru-RU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Мультимодальная</a:t>
                      </a:r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очистка (GPT-4o, </a:t>
                      </a:r>
                      <a:r>
                        <a:rPr b="0" dirty="0" sz="1800" i="0" kern="1200" lang="ru-RU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Claude</a:t>
                      </a:r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3.5)</a:t>
                      </a:r>
                      <a:endParaRPr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—</a:t>
                      </a:r>
                      <a:endParaRPr dirty="0" lang="ru-RU"/>
                    </a:p>
                  </a:txBody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9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b="1" dirty="0" lang="ru-RU"/>
              <a:t>Алгоритм </a:t>
            </a:r>
            <a:r>
              <a:rPr b="1" dirty="0" lang="ru-RU" smtClean="0"/>
              <a:t>очистки</a:t>
            </a:r>
            <a:endParaRPr dirty="0" lang="ru-RU"/>
          </a:p>
        </p:txBody>
      </p:sp>
      <p:sp>
        <p:nvSpPr>
          <p:cNvPr id="1048620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p>
            <a:r>
              <a:rPr b="1" dirty="0" lang="ru-RU"/>
              <a:t>Предобработка:</a:t>
            </a:r>
            <a:endParaRPr dirty="0" lang="ru-RU"/>
          </a:p>
          <a:p>
            <a:pPr lvl="1"/>
            <a:r>
              <a:rPr dirty="0" lang="ru-RU"/>
              <a:t>извлечение таблиц (</a:t>
            </a:r>
            <a:r>
              <a:rPr dirty="0" lang="ru-RU" err="1"/>
              <a:t>tabula-py</a:t>
            </a:r>
            <a:r>
              <a:rPr dirty="0" lang="ru-RU"/>
              <a:t>, </a:t>
            </a:r>
            <a:r>
              <a:rPr dirty="0" lang="ru-RU" err="1"/>
              <a:t>camelot</a:t>
            </a:r>
            <a:r>
              <a:rPr dirty="0" lang="ru-RU"/>
              <a:t>);</a:t>
            </a:r>
          </a:p>
          <a:p>
            <a:pPr lvl="1"/>
            <a:r>
              <a:rPr dirty="0" lang="ru-RU"/>
              <a:t>изоляция формул маркерами [MATH_0];</a:t>
            </a:r>
          </a:p>
          <a:p>
            <a:pPr lvl="1"/>
            <a:r>
              <a:rPr dirty="0" lang="ru-RU"/>
              <a:t>вынос служебных элементов в метаданные.</a:t>
            </a:r>
          </a:p>
          <a:p>
            <a:r>
              <a:rPr b="1" dirty="0" lang="ru-RU"/>
              <a:t>Базовая очистка:</a:t>
            </a:r>
            <a:r>
              <a:rPr dirty="0" lang="ru-RU"/>
              <a:t> удаление управляющих символов, нормализация пробелов.</a:t>
            </a:r>
          </a:p>
          <a:p>
            <a:r>
              <a:rPr b="1" dirty="0" lang="ru-RU"/>
              <a:t>Удаление HTML/XML-тегов:</a:t>
            </a:r>
            <a:r>
              <a:rPr dirty="0" lang="ru-RU"/>
              <a:t> </a:t>
            </a:r>
            <a:r>
              <a:rPr dirty="0" lang="ru-RU" err="1"/>
              <a:t>BeautifulSoup</a:t>
            </a:r>
            <a:r>
              <a:rPr dirty="0" lang="ru-RU"/>
              <a:t>.</a:t>
            </a:r>
          </a:p>
          <a:p>
            <a:r>
              <a:rPr b="1" dirty="0" lang="ru-RU"/>
              <a:t>Исправление OCR-артефактов:</a:t>
            </a:r>
            <a:r>
              <a:rPr dirty="0" lang="ru-RU"/>
              <a:t> контекстная замена (0↔O, 1↔l), словарная коррекция.</a:t>
            </a:r>
          </a:p>
          <a:p>
            <a:r>
              <a:rPr b="1" dirty="0" lang="ru-RU"/>
              <a:t>Приведение к нижнему регистру</a:t>
            </a:r>
            <a:r>
              <a:rPr dirty="0" lang="ru-RU"/>
              <a:t> с защитой аббревиатур через маркеры.</a:t>
            </a:r>
          </a:p>
          <a:p>
            <a:r>
              <a:rPr b="1" dirty="0" lang="ru-RU"/>
              <a:t>Удаление стоп-слов</a:t>
            </a:r>
            <a:r>
              <a:rPr dirty="0" lang="ru-RU"/>
              <a:t> с проверкой, не является ли слово частью термина (</a:t>
            </a:r>
            <a:r>
              <a:rPr dirty="0" lang="ru-RU" err="1"/>
              <a:t>POS-теггинг</a:t>
            </a:r>
            <a:r>
              <a:rPr dirty="0" lang="ru-RU"/>
              <a:t>).</a:t>
            </a:r>
          </a:p>
          <a:p>
            <a:r>
              <a:rPr b="1" dirty="0" lang="ru-RU"/>
              <a:t>Фильтрация PII:</a:t>
            </a:r>
            <a:r>
              <a:rPr dirty="0" lang="ru-RU"/>
              <a:t> регулярные выражения + NER + маскировка [PII_NAME_1].</a:t>
            </a:r>
          </a:p>
          <a:p>
            <a:r>
              <a:rPr b="1" dirty="0" lang="ru-RU"/>
              <a:t>Очистка числовых параметров:</a:t>
            </a:r>
            <a:r>
              <a:rPr dirty="0" lang="ru-RU"/>
              <a:t> нормализация разделителей, сохранение единиц.</a:t>
            </a:r>
          </a:p>
          <a:p>
            <a:r>
              <a:rPr b="1" dirty="0" lang="ru-RU"/>
              <a:t>Восстановление формул и таблиц</a:t>
            </a:r>
            <a:r>
              <a:rPr dirty="0" lang="ru-RU"/>
              <a:t> из маркеров.</a:t>
            </a:r>
          </a:p>
          <a:p>
            <a:r>
              <a:rPr b="1" dirty="0" lang="ru-RU" err="1"/>
              <a:t>Валидация</a:t>
            </a:r>
            <a:r>
              <a:rPr b="1" dirty="0" lang="ru-RU"/>
              <a:t> качества:</a:t>
            </a:r>
            <a:r>
              <a:rPr dirty="0" lang="ru-RU"/>
              <a:t> CER, WER, сохранность чисел, формул, таблиц.</a:t>
            </a:r>
          </a:p>
          <a:p>
            <a:endParaRPr dirty="0" lang="ru-RU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b="1" dirty="0" lang="ru-RU"/>
              <a:t>Проблемы и решения при </a:t>
            </a:r>
            <a:r>
              <a:rPr b="1" dirty="0" lang="ru-RU" smtClean="0"/>
              <a:t>очистке</a:t>
            </a:r>
            <a:endParaRPr dirty="0" lang="ru-RU"/>
          </a:p>
        </p:txBody>
      </p:sp>
      <p:graphicFrame>
        <p:nvGraphicFramePr>
          <p:cNvPr id="4194307" name="Содержимое 3"/>
          <p:cNvGraphicFramePr>
            <a:graphicFrameLocks noGrp="1"/>
          </p:cNvGraphicFramePr>
          <p:nvPr>
            <p:ph idx="1"/>
          </p:nvPr>
        </p:nvGraphicFramePr>
        <p:xfrm>
          <a:off x="395536" y="1268760"/>
          <a:ext cx="8229600" cy="458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70840"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Проблема</a:t>
                      </a:r>
                      <a:endParaRPr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Решение</a:t>
                      </a:r>
                      <a:endParaRPr dirty="0" lang="ru-RU"/>
                    </a:p>
                  </a:txBody>
                </a:tc>
              </a:tr>
              <a:tr h="370840"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Регулярные выражения портят </a:t>
                      </a:r>
                      <a:r>
                        <a:rPr b="0" dirty="0" sz="1800" i="0" kern="1200" lang="en-US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LaTeX</a:t>
                      </a:r>
                      <a:endParaRPr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Временная замена формул маркерами + </a:t>
                      </a:r>
                      <a:r>
                        <a:rPr b="0" dirty="0" sz="1800" i="0" kern="1200" lang="ru-RU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SymPy</a:t>
                      </a:r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для </a:t>
                      </a:r>
                      <a:r>
                        <a:rPr b="0" dirty="0" sz="1800" i="0" kern="1200" lang="ru-RU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валидации</a:t>
                      </a:r>
                      <a:endParaRPr dirty="0" lang="ru-RU"/>
                    </a:p>
                  </a:txBody>
                </a:tc>
              </a:tr>
              <a:tr h="370840"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Потеря структуры таблиц</a:t>
                      </a:r>
                      <a:endParaRPr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Извлечение таблиц до очистки, очистка каждой ячейки отдельно</a:t>
                      </a:r>
                      <a:endParaRPr dirty="0" lang="ru-RU"/>
                    </a:p>
                  </a:txBody>
                </a:tc>
              </a:tr>
              <a:tr h="370840">
                <a:tc>
                  <a:txBody>
                    <a:bodyPr/>
                    <a:p>
                      <a:r>
                        <a:rPr b="0" dirty="0" sz="18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OCR-</a:t>
                      </a:r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артефакты в числах</a:t>
                      </a:r>
                      <a:endParaRPr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Контекстная коррекция + словари терминов + диапазонные значения</a:t>
                      </a:r>
                      <a:endParaRPr dirty="0" lang="ru-RU"/>
                    </a:p>
                  </a:txBody>
                </a:tc>
              </a:tr>
              <a:tr h="370840"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Потеря единиц измерения</a:t>
                      </a:r>
                      <a:endParaRPr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Словари + </a:t>
                      </a:r>
                      <a:r>
                        <a:rPr b="0" dirty="0" sz="18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Pint</a:t>
                      </a:r>
                      <a:endParaRPr dirty="0" lang="ru-RU"/>
                    </a:p>
                  </a:txBody>
                </a:tc>
              </a:tr>
              <a:tr h="370840"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Ложные срабатывания при фильтрации PII</a:t>
                      </a:r>
                      <a:endParaRPr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Гибрид: правила → NER → словарь + мониторинг</a:t>
                      </a:r>
                      <a:endParaRPr dirty="0" lang="ru-RU"/>
                    </a:p>
                  </a:txBody>
                </a:tc>
              </a:tr>
              <a:tr h="370840"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Смешанные языки в документе</a:t>
                      </a:r>
                      <a:endParaRPr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Определение языка до очистки, </a:t>
                      </a:r>
                      <a:r>
                        <a:rPr b="0" dirty="0" sz="1800" i="0" kern="1200" lang="ru-RU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мультиязычные</a:t>
                      </a:r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инструменты</a:t>
                      </a:r>
                      <a:endParaRPr dirty="0" lang="ru-RU"/>
                    </a:p>
                  </a:txBody>
                </a:tc>
              </a:tr>
              <a:tr h="370840"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Большие объёмы</a:t>
                      </a:r>
                      <a:endParaRPr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Пакетная обработка, </a:t>
                      </a:r>
                      <a:r>
                        <a:rPr b="0" dirty="0" sz="1800" i="0" kern="1200" lang="ru-RU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кеширование</a:t>
                      </a:r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результатов</a:t>
                      </a:r>
                      <a:endParaRPr dirty="0" lang="ru-RU"/>
                    </a:p>
                  </a:txBody>
                </a:tc>
              </a:tr>
            </a:tbl>
          </a:graphicData>
        </a:graphic>
      </p:graphicFrame>
      <p:sp>
        <p:nvSpPr>
          <p:cNvPr id="1048622" name="TextBox 4"/>
          <p:cNvSpPr txBox="1"/>
          <p:nvPr/>
        </p:nvSpPr>
        <p:spPr>
          <a:xfrm>
            <a:off x="179512" y="6021288"/>
            <a:ext cx="9659462" cy="358140"/>
          </a:xfrm>
          <a:prstGeom prst="rect"/>
          <a:noFill/>
        </p:spPr>
        <p:txBody>
          <a:bodyPr rtlCol="0" wrap="none">
            <a:spAutoFit/>
          </a:bodyPr>
          <a:p>
            <a:r>
              <a:rPr b="1" dirty="0" lang="ru-RU"/>
              <a:t>Инструменты:</a:t>
            </a:r>
            <a:r>
              <a:rPr dirty="0" lang="ru-RU"/>
              <a:t> </a:t>
            </a:r>
            <a:r>
              <a:rPr dirty="0" lang="en-US"/>
              <a:t>re, </a:t>
            </a:r>
            <a:r>
              <a:rPr dirty="0" lang="en-US" err="1"/>
              <a:t>unicodedata</a:t>
            </a:r>
            <a:r>
              <a:rPr dirty="0" lang="en-US"/>
              <a:t>, </a:t>
            </a:r>
            <a:r>
              <a:rPr dirty="0" lang="en-US" err="1"/>
              <a:t>nltk</a:t>
            </a:r>
            <a:r>
              <a:rPr dirty="0" lang="en-US"/>
              <a:t>, </a:t>
            </a:r>
            <a:r>
              <a:rPr dirty="0" lang="en-US" err="1"/>
              <a:t>spaCy</a:t>
            </a:r>
            <a:r>
              <a:rPr dirty="0" lang="en-US"/>
              <a:t>, Presidio, </a:t>
            </a:r>
            <a:r>
              <a:rPr dirty="0" lang="en-US" err="1"/>
              <a:t>scrubadub</a:t>
            </a:r>
            <a:r>
              <a:rPr dirty="0" lang="en-US"/>
              <a:t>, tabula-</a:t>
            </a:r>
            <a:r>
              <a:rPr dirty="0" lang="en-US" err="1"/>
              <a:t>py</a:t>
            </a:r>
            <a:r>
              <a:rPr dirty="0" lang="en-US"/>
              <a:t>, </a:t>
            </a:r>
            <a:r>
              <a:rPr dirty="0" lang="en-US" err="1"/>
              <a:t>camelot</a:t>
            </a:r>
            <a:r>
              <a:rPr dirty="0" lang="en-US"/>
              <a:t>, </a:t>
            </a:r>
            <a:r>
              <a:rPr dirty="0" lang="en-US" err="1"/>
              <a:t>sympy</a:t>
            </a:r>
            <a:r>
              <a:rPr dirty="0" lang="en-US"/>
              <a:t>.</a:t>
            </a:r>
            <a:endParaRPr dirty="0" lang="ru-RU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3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b="1" dirty="0" lang="ru-RU"/>
              <a:t>Нормализация: задачи и отличие от </a:t>
            </a:r>
            <a:r>
              <a:rPr b="1" dirty="0" lang="ru-RU" smtClean="0"/>
              <a:t>очистки</a:t>
            </a:r>
            <a:endParaRPr dirty="0" lang="ru-RU"/>
          </a:p>
        </p:txBody>
      </p:sp>
      <p:sp>
        <p:nvSpPr>
          <p:cNvPr id="1048624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69642" lnSpcReduction="20000"/>
          </a:bodyPr>
          <a:p>
            <a:r>
              <a:rPr b="1" dirty="0" lang="ru-RU"/>
              <a:t>Отличие от очистки:</a:t>
            </a:r>
            <a:endParaRPr dirty="0" lang="ru-RU"/>
          </a:p>
          <a:p>
            <a:pPr lvl="1"/>
            <a:r>
              <a:rPr b="1" dirty="0" lang="ru-RU"/>
              <a:t>Очистка</a:t>
            </a:r>
            <a:r>
              <a:rPr dirty="0" lang="ru-RU"/>
              <a:t> — удаляет шум и восстанавливает целостность;</a:t>
            </a:r>
          </a:p>
          <a:p>
            <a:pPr lvl="1"/>
            <a:r>
              <a:rPr b="1" dirty="0" lang="ru-RU"/>
              <a:t>Нормализация</a:t>
            </a:r>
            <a:r>
              <a:rPr dirty="0" lang="ru-RU"/>
              <a:t> — приводит все данные к единому стандарту.</a:t>
            </a:r>
          </a:p>
          <a:p>
            <a:r>
              <a:rPr b="1" dirty="0" lang="ru-RU"/>
              <a:t>Задачи нормализации:</a:t>
            </a:r>
            <a:endParaRPr dirty="0" lang="ru-RU"/>
          </a:p>
          <a:p>
            <a:pPr lvl="1"/>
            <a:r>
              <a:rPr dirty="0" lang="ru-RU" err="1"/>
              <a:t>Лемматизация</a:t>
            </a:r>
            <a:r>
              <a:rPr dirty="0" lang="ru-RU"/>
              <a:t> (понимание смысла)</a:t>
            </a:r>
          </a:p>
          <a:p>
            <a:pPr lvl="1"/>
            <a:r>
              <a:rPr dirty="0" lang="ru-RU" err="1"/>
              <a:t>Стемминг</a:t>
            </a:r>
            <a:r>
              <a:rPr dirty="0" lang="ru-RU"/>
              <a:t> (скорость поиска)</a:t>
            </a:r>
          </a:p>
          <a:p>
            <a:pPr lvl="1"/>
            <a:r>
              <a:rPr dirty="0" lang="ru-RU"/>
              <a:t>Приведение регистра</a:t>
            </a:r>
          </a:p>
          <a:p>
            <a:pPr lvl="1"/>
            <a:r>
              <a:rPr dirty="0" lang="ru-RU"/>
              <a:t>Нормализация дат → ISO 8601</a:t>
            </a:r>
          </a:p>
          <a:p>
            <a:pPr lvl="1"/>
            <a:r>
              <a:rPr dirty="0" lang="ru-RU"/>
              <a:t>Нормализация единиц измерения → СИ</a:t>
            </a:r>
          </a:p>
          <a:p>
            <a:pPr lvl="1"/>
            <a:r>
              <a:rPr dirty="0" lang="ru-RU"/>
              <a:t>Нормализация аббревиатур и терминов</a:t>
            </a:r>
          </a:p>
          <a:p>
            <a:pPr lvl="1"/>
            <a:r>
              <a:rPr dirty="0" lang="ru-RU"/>
              <a:t>Нормализация числовых параметров</a:t>
            </a:r>
          </a:p>
          <a:p>
            <a:pPr lvl="1"/>
            <a:r>
              <a:rPr dirty="0" lang="ru-RU"/>
              <a:t>Нормализация формул (канонический вид)</a:t>
            </a:r>
          </a:p>
          <a:p>
            <a:pPr lvl="1"/>
            <a:r>
              <a:rPr dirty="0" lang="ru-RU"/>
              <a:t>Нормализация таблиц</a:t>
            </a:r>
          </a:p>
          <a:p>
            <a:pPr lvl="1"/>
            <a:r>
              <a:rPr dirty="0" lang="ru-RU"/>
              <a:t>Нормализация химических формул</a:t>
            </a:r>
          </a:p>
          <a:p>
            <a:r>
              <a:rPr b="1" dirty="0" lang="ru-RU"/>
              <a:t>Цель:</a:t>
            </a:r>
            <a:r>
              <a:rPr dirty="0" lang="ru-RU"/>
              <a:t> обеспечить корректное сравнение, поиск и анализ.</a:t>
            </a:r>
          </a:p>
          <a:p>
            <a:endParaRPr dirty="0" lang="ru-RU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5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b="1" dirty="0" lang="ru-RU"/>
              <a:t>Эволюция методов </a:t>
            </a:r>
            <a:r>
              <a:rPr b="1" dirty="0" lang="ru-RU" smtClean="0"/>
              <a:t>нормализации</a:t>
            </a:r>
            <a:endParaRPr dirty="0" lang="ru-RU"/>
          </a:p>
        </p:txBody>
      </p:sp>
      <p:graphicFrame>
        <p:nvGraphicFramePr>
          <p:cNvPr id="4194308" name="Содержимое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2512"/>
                <a:gridCol w="3528392"/>
                <a:gridCol w="3178696"/>
              </a:tblGrid>
              <a:tr h="370840"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Период</a:t>
                      </a:r>
                      <a:endParaRPr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Подход</a:t>
                      </a:r>
                      <a:endParaRPr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Инструменты</a:t>
                      </a:r>
                      <a:endParaRPr dirty="0" lang="ru-RU"/>
                    </a:p>
                  </a:txBody>
                </a:tc>
              </a:tr>
              <a:tr h="370840"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1990–2000</a:t>
                      </a:r>
                      <a:endParaRPr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Словарные методы, </a:t>
                      </a:r>
                      <a:r>
                        <a:rPr b="0" dirty="0" sz="1800" i="0" kern="1200" lang="ru-RU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стемминг</a:t>
                      </a:r>
                      <a:endParaRPr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Snowball, Porter stemmer</a:t>
                      </a:r>
                      <a:endParaRPr dirty="0" lang="ru-RU"/>
                    </a:p>
                  </a:txBody>
                </a:tc>
              </a:tr>
              <a:tr h="370840"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2005–2015</a:t>
                      </a:r>
                      <a:endParaRPr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Морфологические анализаторы</a:t>
                      </a:r>
                      <a:endParaRPr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pymorphy2, </a:t>
                      </a:r>
                      <a:r>
                        <a:rPr b="0" dirty="0" sz="1800" i="0" kern="1200" lang="en-US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Mystem</a:t>
                      </a:r>
                      <a:endParaRPr dirty="0" lang="ru-RU"/>
                    </a:p>
                  </a:txBody>
                </a:tc>
              </a:tr>
              <a:tr h="370840"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2015–2020</a:t>
                      </a:r>
                      <a:endParaRPr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Контекстные методы</a:t>
                      </a:r>
                      <a:endParaRPr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en-US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spaCy</a:t>
                      </a:r>
                      <a:r>
                        <a:rPr b="0" dirty="0" sz="18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Stanza</a:t>
                      </a:r>
                      <a:endParaRPr dirty="0" lang="ru-RU"/>
                    </a:p>
                  </a:txBody>
                </a:tc>
              </a:tr>
              <a:tr h="370840"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2020–2023</a:t>
                      </a:r>
                      <a:endParaRPr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ru-RU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Трансформеры</a:t>
                      </a:r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(точность 92–95%)</a:t>
                      </a:r>
                      <a:endParaRPr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BERT, </a:t>
                      </a:r>
                      <a:r>
                        <a:rPr b="0" dirty="0" sz="1800" i="0" kern="1200" lang="en-US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RuBERT</a:t>
                      </a:r>
                      <a:endParaRPr dirty="0" lang="ru-RU"/>
                    </a:p>
                  </a:txBody>
                </a:tc>
              </a:tr>
              <a:tr h="370840"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2024–наст.</a:t>
                      </a:r>
                      <a:endParaRPr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Гибрид: морфология + контекст + БЯМ</a:t>
                      </a:r>
                      <a:endParaRPr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pymorphy2 + BERT + GPT</a:t>
                      </a:r>
                      <a:endParaRPr dirty="0" lang="ru-RU"/>
                    </a:p>
                  </a:txBody>
                </a:tc>
              </a:tr>
              <a:tr h="370840"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Перспектива</a:t>
                      </a:r>
                      <a:endParaRPr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ru-RU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Мультимодальная</a:t>
                      </a:r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нормализация</a:t>
                      </a:r>
                      <a:endParaRPr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GPT-4o, Claude 3.5</a:t>
                      </a:r>
                      <a:endParaRPr dirty="0" lang="ru-RU"/>
                    </a:p>
                  </a:txBody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6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b="1" dirty="0" lang="ru-RU"/>
              <a:t>Алгоритм </a:t>
            </a:r>
            <a:r>
              <a:rPr b="1" dirty="0" lang="ru-RU" smtClean="0"/>
              <a:t>нормализации</a:t>
            </a:r>
            <a:endParaRPr dirty="0" lang="ru-RU"/>
          </a:p>
        </p:txBody>
      </p:sp>
      <p:sp>
        <p:nvSpPr>
          <p:cNvPr id="1048627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58571" lnSpcReduction="20000"/>
          </a:bodyPr>
          <a:p>
            <a:r>
              <a:rPr b="1" dirty="0" lang="ru-RU"/>
              <a:t>Предобработка:</a:t>
            </a:r>
            <a:r>
              <a:rPr dirty="0" lang="ru-RU"/>
              <a:t> извлечение чисел, единиц, формул, таблиц.</a:t>
            </a:r>
          </a:p>
          <a:p>
            <a:r>
              <a:rPr b="1" dirty="0" lang="ru-RU"/>
              <a:t>Нормализация единиц измерения:</a:t>
            </a:r>
            <a:r>
              <a:rPr dirty="0" lang="ru-RU"/>
              <a:t> приведение к СИ через </a:t>
            </a:r>
            <a:r>
              <a:rPr dirty="0" lang="ru-RU" err="1"/>
              <a:t>Pint</a:t>
            </a:r>
            <a:r>
              <a:rPr dirty="0" lang="ru-RU"/>
              <a:t>.</a:t>
            </a:r>
          </a:p>
          <a:p>
            <a:r>
              <a:rPr b="1" dirty="0" lang="ru-RU"/>
              <a:t>Нормализация дат:</a:t>
            </a:r>
            <a:r>
              <a:rPr dirty="0" lang="ru-RU"/>
              <a:t> → ISO 8601 (2025-03-12) через </a:t>
            </a:r>
            <a:r>
              <a:rPr dirty="0" lang="ru-RU" err="1"/>
              <a:t>dateutil</a:t>
            </a:r>
            <a:r>
              <a:rPr dirty="0" lang="ru-RU"/>
              <a:t>.</a:t>
            </a:r>
          </a:p>
          <a:p>
            <a:r>
              <a:rPr b="1" dirty="0" lang="ru-RU"/>
              <a:t>Нормализация аббревиатур:</a:t>
            </a:r>
            <a:r>
              <a:rPr dirty="0" lang="ru-RU"/>
              <a:t> словарь </a:t>
            </a:r>
            <a:r>
              <a:rPr dirty="0" lang="ru-RU" err="1"/>
              <a:t>ПрО</a:t>
            </a:r>
            <a:r>
              <a:rPr dirty="0" lang="ru-RU"/>
              <a:t> + NER + БЯМ для неоднозначностей.</a:t>
            </a:r>
          </a:p>
          <a:p>
            <a:r>
              <a:rPr b="1" dirty="0" lang="ru-RU" err="1"/>
              <a:t>Лемматизация</a:t>
            </a:r>
            <a:r>
              <a:rPr b="1" dirty="0" lang="ru-RU"/>
              <a:t> или </a:t>
            </a:r>
            <a:r>
              <a:rPr b="1" dirty="0" lang="ru-RU" err="1"/>
              <a:t>стемминг</a:t>
            </a:r>
            <a:r>
              <a:rPr b="1" dirty="0" lang="ru-RU"/>
              <a:t>:</a:t>
            </a:r>
            <a:endParaRPr dirty="0" lang="ru-RU"/>
          </a:p>
          <a:p>
            <a:pPr lvl="1"/>
            <a:r>
              <a:rPr dirty="0" lang="ru-RU"/>
              <a:t>поиск → </a:t>
            </a:r>
            <a:r>
              <a:rPr dirty="0" lang="ru-RU" err="1"/>
              <a:t>стемминг</a:t>
            </a:r>
            <a:r>
              <a:rPr dirty="0" lang="ru-RU"/>
              <a:t>;</a:t>
            </a:r>
          </a:p>
          <a:p>
            <a:pPr lvl="1"/>
            <a:r>
              <a:rPr dirty="0" lang="ru-RU"/>
              <a:t>извлечение смысла → </a:t>
            </a:r>
            <a:r>
              <a:rPr dirty="0" lang="ru-RU" err="1"/>
              <a:t>лемматизация</a:t>
            </a:r>
            <a:r>
              <a:rPr dirty="0" lang="ru-RU"/>
              <a:t>;</a:t>
            </a:r>
          </a:p>
          <a:p>
            <a:pPr lvl="1"/>
            <a:r>
              <a:rPr dirty="0" lang="ru-RU"/>
              <a:t>технические тексты → словарь терминов.</a:t>
            </a:r>
          </a:p>
          <a:p>
            <a:r>
              <a:rPr b="1" dirty="0" lang="ru-RU"/>
              <a:t>Нормализация чисел:</a:t>
            </a:r>
            <a:r>
              <a:rPr dirty="0" lang="ru-RU"/>
              <a:t> единый формат, научная нотация → десятичная.</a:t>
            </a:r>
          </a:p>
          <a:p>
            <a:r>
              <a:rPr b="1" dirty="0" lang="ru-RU"/>
              <a:t>Нормализация формул:</a:t>
            </a:r>
            <a:r>
              <a:rPr dirty="0" lang="ru-RU"/>
              <a:t> </a:t>
            </a:r>
            <a:r>
              <a:rPr dirty="0" lang="ru-RU" err="1"/>
              <a:t>LaTeX</a:t>
            </a:r>
            <a:r>
              <a:rPr dirty="0" lang="ru-RU"/>
              <a:t> → канонический вид через </a:t>
            </a:r>
            <a:r>
              <a:rPr dirty="0" lang="ru-RU" err="1"/>
              <a:t>SymPy</a:t>
            </a:r>
            <a:r>
              <a:rPr dirty="0" lang="ru-RU"/>
              <a:t>, сохранение AST.</a:t>
            </a:r>
          </a:p>
          <a:p>
            <a:r>
              <a:rPr b="1" dirty="0" lang="ru-RU"/>
              <a:t>Нормализация таблиц:</a:t>
            </a:r>
            <a:r>
              <a:rPr dirty="0" lang="ru-RU"/>
              <a:t> единая структура, типы данных через </a:t>
            </a:r>
            <a:r>
              <a:rPr dirty="0" lang="ru-RU" err="1"/>
              <a:t>pandas</a:t>
            </a:r>
            <a:r>
              <a:rPr dirty="0" lang="ru-RU"/>
              <a:t>.</a:t>
            </a:r>
          </a:p>
          <a:p>
            <a:r>
              <a:rPr b="1" dirty="0" lang="ru-RU" err="1"/>
              <a:t>Валидация</a:t>
            </a:r>
            <a:r>
              <a:rPr b="1" dirty="0" lang="ru-RU"/>
              <a:t>:</a:t>
            </a:r>
            <a:r>
              <a:rPr dirty="0" lang="ru-RU"/>
              <a:t> сохранность чисел, корректность единиц, формул, таблиц.</a:t>
            </a:r>
          </a:p>
          <a:p>
            <a:endParaRPr dirty="0" lang="ru-RU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8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b="1" dirty="0" lang="ru-RU"/>
              <a:t>Проблемы и решения при </a:t>
            </a:r>
            <a:r>
              <a:rPr b="1" dirty="0" lang="ru-RU" smtClean="0"/>
              <a:t>нормализации</a:t>
            </a:r>
            <a:endParaRPr dirty="0" lang="ru-RU"/>
          </a:p>
        </p:txBody>
      </p:sp>
      <p:graphicFrame>
        <p:nvGraphicFramePr>
          <p:cNvPr id="4194309" name="Содержимое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357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70840"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Проблема</a:t>
                      </a:r>
                      <a:endParaRPr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Решение</a:t>
                      </a:r>
                      <a:endParaRPr dirty="0" lang="ru-RU"/>
                    </a:p>
                  </a:txBody>
                </a:tc>
              </a:tr>
              <a:tr h="370840"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Неоднозначность единиц измерения</a:t>
                      </a:r>
                      <a:endParaRPr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ru-RU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Pint</a:t>
                      </a:r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+ </a:t>
                      </a:r>
                      <a:r>
                        <a:rPr b="0" dirty="0" sz="1800" i="0" kern="1200" lang="ru-RU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кастомные</a:t>
                      </a:r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словари + контекстное определение через БЯМ</a:t>
                      </a:r>
                      <a:endParaRPr dirty="0" lang="ru-RU"/>
                    </a:p>
                  </a:txBody>
                </a:tc>
              </a:tr>
              <a:tr h="370840"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Потеря точности при </a:t>
                      </a:r>
                      <a:r>
                        <a:rPr b="0" dirty="0" sz="1800" i="0" kern="1200" lang="ru-RU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стемминге</a:t>
                      </a:r>
                      <a:endParaRPr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Гибрид: словарь терминов + </a:t>
                      </a:r>
                      <a:r>
                        <a:rPr b="0" dirty="0" sz="1800" i="0" kern="1200" lang="ru-RU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лемматизация</a:t>
                      </a:r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для </a:t>
                      </a:r>
                      <a:r>
                        <a:rPr b="0" dirty="0" sz="1800" i="0" kern="1200" lang="ru-RU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ПрО</a:t>
                      </a:r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+ </a:t>
                      </a:r>
                      <a:r>
                        <a:rPr b="0" dirty="0" sz="1800" i="0" kern="1200" lang="ru-RU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стемминг</a:t>
                      </a:r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b="0" dirty="0" sz="1800" i="0" kern="1200" lang="ru-RU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для</a:t>
                      </a:r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остальных</a:t>
                      </a:r>
                      <a:endParaRPr dirty="0" lang="ru-RU"/>
                    </a:p>
                  </a:txBody>
                </a:tc>
              </a:tr>
              <a:tr h="370840"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Аббревиатуры с несколькими значениями</a:t>
                      </a:r>
                      <a:endParaRPr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Онтологии </a:t>
                      </a:r>
                      <a:r>
                        <a:rPr b="0" dirty="0" sz="1800" i="0" kern="1200" lang="ru-RU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ПрО</a:t>
                      </a:r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+ словари + БЯМ</a:t>
                      </a:r>
                      <a:endParaRPr dirty="0" lang="ru-RU"/>
                    </a:p>
                  </a:txBody>
                </a:tc>
              </a:tr>
              <a:tr h="370840"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Замедление из-за баз знаний</a:t>
                      </a:r>
                      <a:endParaRPr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ru-RU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Кеширование</a:t>
                      </a:r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пакетная потоковая обработка</a:t>
                      </a:r>
                      <a:endParaRPr dirty="0" lang="ru-RU"/>
                    </a:p>
                  </a:txBody>
                </a:tc>
              </a:tr>
              <a:tr h="370840"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Разные форматы дат</a:t>
                      </a:r>
                      <a:endParaRPr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en-US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dateutil</a:t>
                      </a:r>
                      <a:r>
                        <a:rPr b="0" dirty="0" sz="18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+ pandas + </a:t>
                      </a:r>
                      <a:r>
                        <a:rPr b="0" dirty="0" sz="1800" i="0" kern="1200" lang="ru-RU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кастомные</a:t>
                      </a:r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правила</a:t>
                      </a:r>
                      <a:endParaRPr dirty="0" lang="ru-RU"/>
                    </a:p>
                  </a:txBody>
                </a:tc>
              </a:tr>
            </a:tbl>
          </a:graphicData>
        </a:graphic>
      </p:graphicFrame>
      <p:sp>
        <p:nvSpPr>
          <p:cNvPr id="1048629" name="TextBox 4"/>
          <p:cNvSpPr txBox="1"/>
          <p:nvPr/>
        </p:nvSpPr>
        <p:spPr>
          <a:xfrm>
            <a:off x="395536" y="5517232"/>
            <a:ext cx="8937844" cy="624840"/>
          </a:xfrm>
          <a:prstGeom prst="rect"/>
          <a:noFill/>
        </p:spPr>
        <p:txBody>
          <a:bodyPr rtlCol="0" wrap="none">
            <a:spAutoFit/>
          </a:bodyPr>
          <a:p>
            <a:r>
              <a:rPr b="1" dirty="0" lang="en-US" err="1"/>
              <a:t>Инструменты</a:t>
            </a:r>
            <a:r>
              <a:rPr b="1" dirty="0" lang="en-US"/>
              <a:t>:</a:t>
            </a:r>
            <a:r>
              <a:rPr dirty="0" lang="en-US"/>
              <a:t> pymorphy2, </a:t>
            </a:r>
            <a:r>
              <a:rPr dirty="0" lang="en-US" err="1"/>
              <a:t>Mystem</a:t>
            </a:r>
            <a:r>
              <a:rPr dirty="0" lang="en-US"/>
              <a:t>, </a:t>
            </a:r>
            <a:r>
              <a:rPr dirty="0" lang="en-US" err="1"/>
              <a:t>spaCy</a:t>
            </a:r>
            <a:r>
              <a:rPr dirty="0" lang="en-US"/>
              <a:t>, Pint, quantities, </a:t>
            </a:r>
            <a:r>
              <a:rPr dirty="0" lang="en-US" err="1"/>
              <a:t>dateutil</a:t>
            </a:r>
            <a:r>
              <a:rPr dirty="0" lang="en-US"/>
              <a:t>, pandas, </a:t>
            </a:r>
            <a:r>
              <a:rPr dirty="0" lang="en-US" err="1"/>
              <a:t>sympy</a:t>
            </a:r>
            <a:r>
              <a:rPr dirty="0" lang="en-US"/>
              <a:t>, </a:t>
            </a:r>
            <a:endParaRPr dirty="0" lang="ru-RU" smtClean="0"/>
          </a:p>
          <a:p>
            <a:r>
              <a:rPr dirty="0" lang="en-US" smtClean="0"/>
              <a:t>latex2sympy</a:t>
            </a:r>
            <a:r>
              <a:rPr dirty="0" lang="en-US"/>
              <a:t>, </a:t>
            </a:r>
            <a:r>
              <a:rPr dirty="0" lang="en-US" err="1"/>
              <a:t>rdkit</a:t>
            </a:r>
            <a:r>
              <a:rPr dirty="0" lang="en-US"/>
              <a:t>.</a:t>
            </a:r>
            <a:endParaRPr dirty="0" lang="ru-RU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0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b="1" dirty="0" lang="ru-RU" err="1"/>
              <a:t>Токенизация</a:t>
            </a:r>
            <a:r>
              <a:rPr b="1" dirty="0" lang="ru-RU"/>
              <a:t>: типы и </a:t>
            </a:r>
            <a:r>
              <a:rPr b="1" dirty="0" lang="ru-RU" smtClean="0"/>
              <a:t>цели</a:t>
            </a:r>
            <a:endParaRPr dirty="0" lang="ru-RU"/>
          </a:p>
        </p:txBody>
      </p:sp>
      <p:sp>
        <p:nvSpPr>
          <p:cNvPr id="1048631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9160"/>
          </a:xfrm>
        </p:spPr>
        <p:txBody>
          <a:bodyPr>
            <a:normAutofit fontScale="93750"/>
          </a:bodyPr>
          <a:p>
            <a:r>
              <a:rPr b="1" dirty="0" sz="1600" lang="ru-RU"/>
              <a:t>Цель:</a:t>
            </a:r>
            <a:r>
              <a:rPr dirty="0" sz="1600" lang="ru-RU"/>
              <a:t> Разбить нормализованный текст на минимальные значимые единицы (</a:t>
            </a:r>
            <a:r>
              <a:rPr dirty="0" sz="1600" lang="ru-RU" err="1"/>
              <a:t>токены</a:t>
            </a:r>
            <a:r>
              <a:rPr dirty="0" sz="1600" lang="ru-RU"/>
              <a:t>).</a:t>
            </a:r>
          </a:p>
          <a:p>
            <a:r>
              <a:rPr b="1" dirty="0" sz="1600" lang="ru-RU"/>
              <a:t>Типы </a:t>
            </a:r>
            <a:r>
              <a:rPr b="1" dirty="0" sz="1600" lang="ru-RU" err="1"/>
              <a:t>токенизации</a:t>
            </a:r>
            <a:r>
              <a:rPr b="1" dirty="0" sz="1600" lang="ru-RU" smtClean="0"/>
              <a:t>:</a:t>
            </a:r>
          </a:p>
          <a:p>
            <a:endParaRPr b="1" dirty="0" sz="1600" lang="ru-RU"/>
          </a:p>
          <a:p>
            <a:endParaRPr b="1" dirty="0" sz="1600" lang="ru-RU" smtClean="0"/>
          </a:p>
          <a:p>
            <a:endParaRPr b="1" dirty="0" sz="1600" lang="ru-RU"/>
          </a:p>
          <a:p>
            <a:endParaRPr b="1" dirty="0" sz="1600" lang="ru-RU" smtClean="0"/>
          </a:p>
          <a:p>
            <a:endParaRPr b="1" dirty="0" sz="1600" lang="ru-RU"/>
          </a:p>
          <a:p>
            <a:endParaRPr b="1" dirty="0" sz="1600" lang="ru-RU" smtClean="0"/>
          </a:p>
          <a:p>
            <a:endParaRPr b="1" dirty="0" sz="1600" lang="ru-RU"/>
          </a:p>
          <a:p>
            <a:endParaRPr b="1" dirty="0" sz="1600" lang="ru-RU" smtClean="0"/>
          </a:p>
          <a:p>
            <a:endParaRPr dirty="0" sz="1600" lang="ru-RU"/>
          </a:p>
          <a:p>
            <a:endParaRPr dirty="0" sz="1600" lang="ru-RU" smtClean="0"/>
          </a:p>
          <a:p>
            <a:endParaRPr dirty="0" sz="1600" lang="ru-RU"/>
          </a:p>
          <a:p>
            <a:endParaRPr dirty="0" sz="1600" lang="ru-RU" smtClean="0"/>
          </a:p>
          <a:p>
            <a:endParaRPr dirty="0" sz="1600" lang="ru-RU"/>
          </a:p>
          <a:p>
            <a:r>
              <a:rPr b="1" dirty="0" sz="1600" lang="ru-RU"/>
              <a:t>Специфика промышленных текстов:</a:t>
            </a:r>
            <a:r>
              <a:rPr dirty="0" sz="1600" lang="ru-RU"/>
              <a:t> числа с единицами, химические формулы, аббревиатуры — как единые </a:t>
            </a:r>
            <a:r>
              <a:rPr dirty="0" sz="1600" lang="ru-RU" err="1"/>
              <a:t>токены</a:t>
            </a:r>
            <a:r>
              <a:rPr dirty="0" sz="1600" lang="ru-RU"/>
              <a:t>.</a:t>
            </a:r>
          </a:p>
        </p:txBody>
      </p:sp>
      <p:graphicFrame>
        <p:nvGraphicFramePr>
          <p:cNvPr id="4194310" name="Таблица 3"/>
          <p:cNvGraphicFramePr>
            <a:graphicFrameLocks noGrp="1"/>
          </p:cNvGraphicFramePr>
          <p:nvPr/>
        </p:nvGraphicFramePr>
        <p:xfrm>
          <a:off x="611560" y="2204864"/>
          <a:ext cx="7776864" cy="35555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4217"/>
                <a:gridCol w="3240359"/>
                <a:gridCol w="2592288"/>
              </a:tblGrid>
              <a:tr h="277443">
                <a:tc>
                  <a:txBody>
                    <a:bodyPr/>
                    <a:p>
                      <a:r>
                        <a:rPr b="0" dirty="0" sz="1600" i="0" kern="1200" lang="ru-RU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Тип</a:t>
                      </a:r>
                      <a:endParaRPr dirty="0" sz="160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600" i="0" kern="1200" lang="ru-RU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Описание</a:t>
                      </a:r>
                      <a:endParaRPr dirty="0" sz="160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600" i="0" kern="1200" lang="ru-RU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Инструменты</a:t>
                      </a:r>
                      <a:endParaRPr dirty="0" sz="1600" lang="ru-RU"/>
                    </a:p>
                  </a:txBody>
                </a:tc>
              </a:tr>
              <a:tr h="485525">
                <a:tc>
                  <a:txBody>
                    <a:bodyPr/>
                    <a:p>
                      <a:r>
                        <a:rPr b="0" dirty="0" sz="16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Словесная</a:t>
                      </a:r>
                      <a:endParaRPr dirty="0" sz="160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6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По пробелам и пунктуации</a:t>
                      </a:r>
                      <a:endParaRPr dirty="0" sz="160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600" i="0" kern="1200" lang="en-US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str.split</a:t>
                      </a:r>
                      <a:r>
                        <a:rPr b="0" dirty="0" sz="16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(), NLTK, </a:t>
                      </a:r>
                      <a:r>
                        <a:rPr b="0" dirty="0" sz="1600" i="0" kern="1200" lang="en-US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spaCy</a:t>
                      </a:r>
                      <a:endParaRPr dirty="0" sz="1600" lang="ru-RU"/>
                    </a:p>
                  </a:txBody>
                </a:tc>
              </a:tr>
              <a:tr h="445818">
                <a:tc>
                  <a:txBody>
                    <a:bodyPr/>
                    <a:p>
                      <a:r>
                        <a:rPr b="0" dirty="0" sz="16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По предложениям</a:t>
                      </a:r>
                      <a:endParaRPr dirty="0" sz="160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6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Смысловая целостность</a:t>
                      </a:r>
                      <a:endParaRPr dirty="0" sz="160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6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NLTK, </a:t>
                      </a:r>
                      <a:r>
                        <a:rPr b="0" dirty="0" sz="1600" i="0" kern="1200" lang="en-US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spaCy</a:t>
                      </a:r>
                      <a:endParaRPr dirty="0" sz="1600" lang="ru-RU"/>
                    </a:p>
                  </a:txBody>
                </a:tc>
              </a:tr>
              <a:tr h="437093">
                <a:tc>
                  <a:txBody>
                    <a:bodyPr/>
                    <a:p>
                      <a:r>
                        <a:rPr b="0" dirty="0" sz="16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Символьная</a:t>
                      </a:r>
                      <a:endParaRPr dirty="0" sz="160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6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Для редких языков</a:t>
                      </a:r>
                      <a:endParaRPr dirty="0" sz="160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6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—</a:t>
                      </a:r>
                      <a:endParaRPr dirty="0" sz="1600" lang="ru-RU"/>
                    </a:p>
                  </a:txBody>
                </a:tc>
              </a:tr>
              <a:tr h="485525">
                <a:tc>
                  <a:txBody>
                    <a:bodyPr/>
                    <a:p>
                      <a:r>
                        <a:rPr b="0" dirty="0" sz="1600" i="0" kern="1200" lang="ru-RU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Субсловная</a:t>
                      </a:r>
                      <a:endParaRPr dirty="0" sz="160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6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BPE, </a:t>
                      </a:r>
                      <a:r>
                        <a:rPr b="0" dirty="0" sz="1600" i="0" kern="1200" lang="en-US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WordPiece</a:t>
                      </a:r>
                      <a:r>
                        <a:rPr b="0" dirty="0" sz="16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Unigram</a:t>
                      </a:r>
                      <a:endParaRPr dirty="0" sz="160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600" i="0" kern="1200" lang="en-US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SentencePiece</a:t>
                      </a:r>
                      <a:r>
                        <a:rPr b="0" dirty="0" sz="16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HF </a:t>
                      </a:r>
                      <a:r>
                        <a:rPr b="0" dirty="0" sz="1600" i="0" kern="1200" lang="en-US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tokenizers</a:t>
                      </a:r>
                      <a:r>
                        <a:rPr b="0" dirty="0" sz="16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b="0" dirty="0" sz="1600" i="0" kern="1200" lang="en-US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tiktoken</a:t>
                      </a:r>
                      <a:endParaRPr dirty="0" sz="1600" lang="ru-RU"/>
                    </a:p>
                  </a:txBody>
                </a:tc>
              </a:tr>
              <a:tr h="485525">
                <a:tc>
                  <a:txBody>
                    <a:bodyPr/>
                    <a:p>
                      <a:r>
                        <a:rPr b="0" dirty="0" sz="1600" i="0" kern="1200" lang="en-US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LaTeX</a:t>
                      </a:r>
                      <a:r>
                        <a:rPr b="0" dirty="0" sz="16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-aware</a:t>
                      </a:r>
                      <a:endParaRPr b="0" dirty="0" sz="160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6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Защита формул</a:t>
                      </a:r>
                      <a:endParaRPr dirty="0" sz="160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600" i="0" kern="1200" lang="ru-RU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Кастомные</a:t>
                      </a:r>
                      <a:r>
                        <a:rPr b="0" dirty="0" sz="16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b="0" dirty="0" sz="1600" i="0" kern="1200" lang="ru-RU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парсеры</a:t>
                      </a:r>
                      <a:r>
                        <a:rPr b="0" dirty="0" sz="16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+ </a:t>
                      </a:r>
                      <a:r>
                        <a:rPr b="0" dirty="0" sz="1600" i="0" kern="1200" lang="en-US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SymPy</a:t>
                      </a:r>
                      <a:endParaRPr dirty="0" sz="1600" lang="ru-RU"/>
                    </a:p>
                  </a:txBody>
                </a:tc>
              </a:tr>
              <a:tr h="693608">
                <a:tc>
                  <a:txBody>
                    <a:bodyPr/>
                    <a:p>
                      <a:r>
                        <a:rPr b="0" dirty="0" sz="16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Специализированная</a:t>
                      </a:r>
                      <a:endParaRPr b="0" dirty="0" sz="160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6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Таблицы, числа с единицами, аббревиатуры</a:t>
                      </a:r>
                      <a:endParaRPr dirty="0" sz="160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6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pandas, </a:t>
                      </a:r>
                      <a:r>
                        <a:rPr b="0" dirty="0" sz="1600" i="0" kern="1200" lang="en-US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rdkit</a:t>
                      </a:r>
                      <a:r>
                        <a:rPr b="0" dirty="0" sz="16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b="0" dirty="0" sz="1600" i="0" kern="1200" lang="ru-RU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кастомные</a:t>
                      </a:r>
                      <a:r>
                        <a:rPr b="0" dirty="0" sz="16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правила</a:t>
                      </a:r>
                      <a:endParaRPr dirty="0" sz="1600" lang="ru-RU"/>
                    </a:p>
                  </a:txBody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3182"/>
          </a:bodyPr>
          <a:p>
            <a:r>
              <a:rPr b="1" dirty="0" lang="ru-RU"/>
              <a:t>Эволюция методов </a:t>
            </a:r>
            <a:r>
              <a:rPr b="1" dirty="0" lang="ru-RU" err="1" smtClean="0"/>
              <a:t>токенизации</a:t>
            </a:r>
            <a:endParaRPr dirty="0" lang="ru-RU"/>
          </a:p>
        </p:txBody>
      </p:sp>
      <p:graphicFrame>
        <p:nvGraphicFramePr>
          <p:cNvPr id="4194311" name="Содержимое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2552"/>
                <a:gridCol w="6347048"/>
              </a:tblGrid>
              <a:tr h="370840"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Период</a:t>
                      </a:r>
                      <a:endParaRPr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Подход</a:t>
                      </a:r>
                      <a:endParaRPr dirty="0" lang="ru-RU"/>
                    </a:p>
                  </a:txBody>
                </a:tc>
              </a:tr>
              <a:tr h="370840"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1990–2000</a:t>
                      </a:r>
                      <a:endParaRPr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Словесная </a:t>
                      </a:r>
                      <a:r>
                        <a:rPr b="0" dirty="0" sz="1800" i="0" kern="1200" lang="ru-RU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токенизация</a:t>
                      </a:r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по пробелам</a:t>
                      </a:r>
                      <a:endParaRPr dirty="0" lang="ru-RU"/>
                    </a:p>
                  </a:txBody>
                </a:tc>
              </a:tr>
              <a:tr h="370840"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2005–2015</a:t>
                      </a:r>
                      <a:endParaRPr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Учёт пунктуации, поддержка аббревиатур</a:t>
                      </a:r>
                      <a:endParaRPr dirty="0" lang="ru-RU"/>
                    </a:p>
                  </a:txBody>
                </a:tc>
              </a:tr>
              <a:tr h="370840"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2015–2018</a:t>
                      </a:r>
                      <a:endParaRPr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BPE (Byte Pair Encoding)</a:t>
                      </a:r>
                      <a:endParaRPr dirty="0" lang="ru-RU"/>
                    </a:p>
                  </a:txBody>
                </a:tc>
              </a:tr>
              <a:tr h="370840"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2018–2020</a:t>
                      </a:r>
                      <a:endParaRPr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en-US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WordPiece</a:t>
                      </a:r>
                      <a:r>
                        <a:rPr b="0" dirty="0" sz="18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Unigram (BERT, </a:t>
                      </a:r>
                      <a:r>
                        <a:rPr b="0" dirty="0" sz="1800" i="0" kern="1200" lang="en-US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XLNet</a:t>
                      </a:r>
                      <a:r>
                        <a:rPr b="0" dirty="0" sz="18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dirty="0" lang="ru-RU"/>
                    </a:p>
                  </a:txBody>
                </a:tc>
              </a:tr>
              <a:tr h="370840"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2020–2023</a:t>
                      </a:r>
                      <a:endParaRPr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Специализированные: </a:t>
                      </a:r>
                      <a:r>
                        <a:rPr b="0" dirty="0" sz="1800" i="0" kern="1200" lang="en-US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tiktoken</a:t>
                      </a:r>
                      <a:r>
                        <a:rPr b="0" dirty="0" sz="18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b="0" dirty="0" sz="1800" i="0" kern="1200" lang="en-US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LaTeX</a:t>
                      </a:r>
                      <a:r>
                        <a:rPr b="0" dirty="0" sz="18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-aware</a:t>
                      </a:r>
                      <a:endParaRPr dirty="0" lang="ru-RU"/>
                    </a:p>
                  </a:txBody>
                </a:tc>
              </a:tr>
              <a:tr h="370840"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2024–наст.</a:t>
                      </a:r>
                      <a:endParaRPr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Гибрид: </a:t>
                      </a:r>
                      <a:r>
                        <a:rPr b="0" dirty="0" sz="1800" i="0" kern="1200" lang="ru-RU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кастомные</a:t>
                      </a:r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правила + БЯМ, </a:t>
                      </a:r>
                      <a:r>
                        <a:rPr b="0" dirty="0" sz="1800" i="0" kern="1200" lang="ru-RU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мультимодальная</a:t>
                      </a:r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b="0" dirty="0" sz="1800" i="0" kern="1200" lang="ru-RU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токенизация</a:t>
                      </a:r>
                      <a:endParaRPr dirty="0" lang="ru-RU"/>
                    </a:p>
                  </a:txBody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3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b="1" dirty="0" lang="ru-RU"/>
              <a:t>Алгоритм </a:t>
            </a:r>
            <a:r>
              <a:rPr b="1" dirty="0" lang="ru-RU" err="1" smtClean="0"/>
              <a:t>токенизации</a:t>
            </a:r>
            <a:endParaRPr dirty="0" lang="ru-RU"/>
          </a:p>
        </p:txBody>
      </p:sp>
      <p:sp>
        <p:nvSpPr>
          <p:cNvPr id="1048634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51071" lnSpcReduction="20000"/>
          </a:bodyPr>
          <a:p>
            <a:r>
              <a:rPr b="1" dirty="0" lang="ru-RU"/>
              <a:t>Предобработка:</a:t>
            </a:r>
            <a:endParaRPr dirty="0" lang="ru-RU"/>
          </a:p>
          <a:p>
            <a:pPr lvl="1"/>
            <a:r>
              <a:rPr dirty="0" lang="ru-RU"/>
              <a:t>определение типа </a:t>
            </a:r>
            <a:r>
              <a:rPr dirty="0" lang="ru-RU" err="1"/>
              <a:t>токенизации</a:t>
            </a:r>
            <a:r>
              <a:rPr dirty="0" lang="ru-RU"/>
              <a:t> (словесная / </a:t>
            </a:r>
            <a:r>
              <a:rPr dirty="0" lang="ru-RU" err="1"/>
              <a:t>субсловная</a:t>
            </a:r>
            <a:r>
              <a:rPr dirty="0" lang="ru-RU"/>
              <a:t> / гибридная);</a:t>
            </a:r>
          </a:p>
          <a:p>
            <a:pPr lvl="1"/>
            <a:r>
              <a:rPr dirty="0" lang="ru-RU"/>
              <a:t>защита формул маркерами;</a:t>
            </a:r>
          </a:p>
          <a:p>
            <a:pPr lvl="1"/>
            <a:r>
              <a:rPr dirty="0" lang="ru-RU"/>
              <a:t>извлечение таблиц в отдельную структуру;</a:t>
            </a:r>
          </a:p>
          <a:p>
            <a:pPr lvl="1"/>
            <a:r>
              <a:rPr dirty="0" lang="ru-RU"/>
              <a:t>объединение чисел с единицами в один </a:t>
            </a:r>
            <a:r>
              <a:rPr dirty="0" lang="ru-RU" err="1"/>
              <a:t>токен</a:t>
            </a:r>
            <a:r>
              <a:rPr dirty="0" lang="ru-RU"/>
              <a:t>.</a:t>
            </a:r>
          </a:p>
          <a:p>
            <a:r>
              <a:rPr b="1" dirty="0" lang="ru-RU" err="1"/>
              <a:t>Токенизация</a:t>
            </a:r>
            <a:r>
              <a:rPr b="1" dirty="0" lang="ru-RU"/>
              <a:t> на предложения.</a:t>
            </a:r>
            <a:endParaRPr dirty="0" lang="ru-RU"/>
          </a:p>
          <a:p>
            <a:r>
              <a:rPr b="1" dirty="0" lang="ru-RU"/>
              <a:t>Словесная или </a:t>
            </a:r>
            <a:r>
              <a:rPr b="1" dirty="0" lang="ru-RU" err="1"/>
              <a:t>субсловная</a:t>
            </a:r>
            <a:r>
              <a:rPr b="1" dirty="0" lang="ru-RU"/>
              <a:t> </a:t>
            </a:r>
            <a:r>
              <a:rPr b="1" dirty="0" lang="ru-RU" err="1"/>
              <a:t>токенизация</a:t>
            </a:r>
            <a:r>
              <a:rPr b="1" dirty="0" lang="ru-RU"/>
              <a:t>:</a:t>
            </a:r>
            <a:endParaRPr dirty="0" lang="ru-RU"/>
          </a:p>
          <a:p>
            <a:pPr lvl="1"/>
            <a:r>
              <a:rPr dirty="0" lang="ru-RU"/>
              <a:t>классический поиск → словесная;</a:t>
            </a:r>
          </a:p>
          <a:p>
            <a:pPr lvl="1"/>
            <a:r>
              <a:rPr dirty="0" lang="ru-RU" err="1"/>
              <a:t>трансформеры</a:t>
            </a:r>
            <a:r>
              <a:rPr dirty="0" lang="ru-RU"/>
              <a:t> → </a:t>
            </a:r>
            <a:r>
              <a:rPr dirty="0" lang="ru-RU" err="1"/>
              <a:t>субсловная</a:t>
            </a:r>
            <a:r>
              <a:rPr dirty="0" lang="ru-RU"/>
              <a:t> (BPE, </a:t>
            </a:r>
            <a:r>
              <a:rPr dirty="0" lang="ru-RU" err="1"/>
              <a:t>WordPiece</a:t>
            </a:r>
            <a:r>
              <a:rPr dirty="0" lang="ru-RU"/>
              <a:t>);</a:t>
            </a:r>
          </a:p>
          <a:p>
            <a:pPr lvl="1"/>
            <a:r>
              <a:rPr dirty="0" lang="ru-RU"/>
              <a:t>гибрид → словесная для терминов, </a:t>
            </a:r>
            <a:r>
              <a:rPr dirty="0" lang="ru-RU" err="1"/>
              <a:t>субсловная</a:t>
            </a:r>
            <a:r>
              <a:rPr dirty="0" lang="ru-RU"/>
              <a:t> для остальных.</a:t>
            </a:r>
          </a:p>
          <a:p>
            <a:r>
              <a:rPr b="1" dirty="0" lang="ru-RU" err="1"/>
              <a:t>Токенизация</a:t>
            </a:r>
            <a:r>
              <a:rPr b="1" dirty="0" lang="ru-RU"/>
              <a:t> формул:</a:t>
            </a:r>
            <a:endParaRPr dirty="0" lang="ru-RU"/>
          </a:p>
          <a:p>
            <a:pPr lvl="1"/>
            <a:r>
              <a:rPr dirty="0" lang="ru-RU"/>
              <a:t>вариант 1: формула как один </a:t>
            </a:r>
            <a:r>
              <a:rPr dirty="0" lang="ru-RU" err="1"/>
              <a:t>токен</a:t>
            </a:r>
            <a:r>
              <a:rPr dirty="0" lang="ru-RU"/>
              <a:t>;</a:t>
            </a:r>
          </a:p>
          <a:p>
            <a:pPr lvl="1"/>
            <a:r>
              <a:rPr dirty="0" lang="ru-RU"/>
              <a:t>вариант 2: </a:t>
            </a:r>
            <a:r>
              <a:rPr dirty="0" lang="ru-RU" err="1"/>
              <a:t>AST-токенизация</a:t>
            </a:r>
            <a:r>
              <a:rPr dirty="0" lang="ru-RU"/>
              <a:t>;</a:t>
            </a:r>
          </a:p>
          <a:p>
            <a:pPr lvl="1"/>
            <a:r>
              <a:rPr dirty="0" lang="ru-RU"/>
              <a:t>вариант 3: </a:t>
            </a:r>
            <a:r>
              <a:rPr dirty="0" lang="ru-RU" err="1"/>
              <a:t>LaTeX-aware</a:t>
            </a:r>
            <a:r>
              <a:rPr dirty="0" lang="ru-RU"/>
              <a:t> с защитой команд.</a:t>
            </a:r>
          </a:p>
          <a:p>
            <a:r>
              <a:rPr b="1" dirty="0" lang="ru-RU" err="1"/>
              <a:t>Токенизация</a:t>
            </a:r>
            <a:r>
              <a:rPr b="1" dirty="0" lang="ru-RU"/>
              <a:t> чисел и единиц:</a:t>
            </a:r>
            <a:r>
              <a:rPr dirty="0" lang="ru-RU"/>
              <a:t> объединение в один </a:t>
            </a:r>
            <a:r>
              <a:rPr dirty="0" lang="ru-RU" err="1"/>
              <a:t>токен</a:t>
            </a:r>
            <a:r>
              <a:rPr dirty="0" lang="ru-RU"/>
              <a:t> [NUMUNIT_N].</a:t>
            </a:r>
          </a:p>
          <a:p>
            <a:r>
              <a:rPr b="1" dirty="0" lang="ru-RU" err="1"/>
              <a:t>Токенизация</a:t>
            </a:r>
            <a:r>
              <a:rPr b="1" dirty="0" lang="ru-RU"/>
              <a:t> аббревиатур:</a:t>
            </a:r>
            <a:r>
              <a:rPr dirty="0" lang="ru-RU"/>
              <a:t> сохранение как целых </a:t>
            </a:r>
            <a:r>
              <a:rPr dirty="0" lang="ru-RU" err="1"/>
              <a:t>токенов</a:t>
            </a:r>
            <a:r>
              <a:rPr dirty="0" lang="ru-RU"/>
              <a:t>, добавление в словарь.</a:t>
            </a:r>
          </a:p>
          <a:p>
            <a:r>
              <a:rPr b="1" dirty="0" lang="ru-RU"/>
              <a:t>Восстановление защищённых элементов.</a:t>
            </a:r>
            <a:endParaRPr dirty="0" lang="ru-RU"/>
          </a:p>
          <a:p>
            <a:r>
              <a:rPr b="1" dirty="0" lang="ru-RU" err="1"/>
              <a:t>Валидация</a:t>
            </a:r>
            <a:r>
              <a:rPr b="1" dirty="0" lang="ru-RU"/>
              <a:t>:</a:t>
            </a:r>
            <a:r>
              <a:rPr dirty="0" lang="ru-RU"/>
              <a:t> сохранность терминов, формул, чисел.</a:t>
            </a:r>
          </a:p>
          <a:p>
            <a:endParaRPr dirty="0" lang="ru-RU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5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b="1" dirty="0" lang="ru-RU"/>
              <a:t>Проблемы и решения при </a:t>
            </a:r>
            <a:r>
              <a:rPr b="1" dirty="0" lang="ru-RU" err="1" smtClean="0"/>
              <a:t>токенизации</a:t>
            </a:r>
            <a:endParaRPr dirty="0" lang="ru-RU"/>
          </a:p>
        </p:txBody>
      </p:sp>
      <p:graphicFrame>
        <p:nvGraphicFramePr>
          <p:cNvPr id="4194312" name="Содержимое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3134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66728"/>
                <a:gridCol w="4762872"/>
              </a:tblGrid>
              <a:tr h="370840"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Проблема</a:t>
                      </a:r>
                      <a:endParaRPr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Решение</a:t>
                      </a:r>
                      <a:endParaRPr dirty="0" lang="ru-RU"/>
                    </a:p>
                  </a:txBody>
                </a:tc>
              </a:tr>
              <a:tr h="370840"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Редкие термины (</a:t>
                      </a:r>
                      <a:r>
                        <a:rPr b="0" dirty="0" sz="18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OOV)</a:t>
                      </a:r>
                      <a:endParaRPr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ru-RU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Субсловная</a:t>
                      </a:r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b="0" dirty="0" sz="1800" i="0" kern="1200" lang="ru-RU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токенизация</a:t>
                      </a:r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b="0" dirty="0" sz="1800" i="0" kern="1200" lang="ru-RU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Byte-level</a:t>
                      </a:r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BPE, добавление в словарь</a:t>
                      </a:r>
                      <a:endParaRPr dirty="0" lang="ru-RU"/>
                    </a:p>
                  </a:txBody>
                </a:tc>
              </a:tr>
              <a:tr h="370840"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Разрыв формул</a:t>
                      </a:r>
                      <a:endParaRPr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en-US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LaTeX</a:t>
                      </a:r>
                      <a:r>
                        <a:rPr b="0" dirty="0" sz="18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-aware </a:t>
                      </a:r>
                      <a:r>
                        <a:rPr b="0" dirty="0" sz="1800" i="0" kern="1200" lang="ru-RU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токенизация</a:t>
                      </a:r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с защитой</a:t>
                      </a:r>
                      <a:endParaRPr dirty="0" lang="ru-RU"/>
                    </a:p>
                  </a:txBody>
                </a:tc>
              </a:tr>
              <a:tr h="370840"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Разрыв чисел с единицами</a:t>
                      </a:r>
                      <a:endParaRPr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Маркеры </a:t>
                      </a:r>
                      <a:r>
                        <a:rPr dirty="0" lang="ru-RU" smtClean="0"/>
                        <a:t>[</a:t>
                      </a:r>
                      <a:r>
                        <a:rPr dirty="0" lang="en-US" smtClean="0"/>
                        <a:t>NUMUNIT_N]</a:t>
                      </a:r>
                      <a:endParaRPr dirty="0" lang="ru-RU"/>
                    </a:p>
                  </a:txBody>
                </a:tc>
              </a:tr>
              <a:tr h="370840"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Аббревиатуры</a:t>
                      </a:r>
                      <a:endParaRPr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Словари + </a:t>
                      </a:r>
                      <a:r>
                        <a:rPr b="0" dirty="0" sz="1800" i="0" kern="1200" lang="ru-RU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кастомные</a:t>
                      </a:r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правила</a:t>
                      </a:r>
                      <a:endParaRPr dirty="0" lang="ru-RU"/>
                    </a:p>
                  </a:txBody>
                </a:tc>
              </a:tr>
              <a:tr h="370840"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Ограничение длины (512 </a:t>
                      </a:r>
                      <a:r>
                        <a:rPr b="0" dirty="0" sz="1800" i="0" kern="1200" lang="ru-RU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токенов</a:t>
                      </a:r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Семантическое разбиение с перекрытием, </a:t>
                      </a:r>
                      <a:r>
                        <a:rPr b="0" dirty="0" sz="1800" i="0" kern="1200" lang="ru-RU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Longformer</a:t>
                      </a:r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b="0" dirty="0" sz="1800" i="0" kern="1200" lang="ru-RU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BigBird</a:t>
                      </a:r>
                      <a:endParaRPr dirty="0" lang="ru-RU"/>
                    </a:p>
                  </a:txBody>
                </a:tc>
              </a:tr>
              <a:tr h="370840">
                <a:tc>
                  <a:txBody>
                    <a:bodyPr/>
                    <a:p>
                      <a:r>
                        <a:rPr b="0" dirty="0" sz="1800" i="0" kern="1200" lang="ru-RU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Мультиязычные</a:t>
                      </a:r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документы</a:t>
                      </a:r>
                      <a:endParaRPr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ru-RU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Мультиязычная</a:t>
                      </a:r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b="0" dirty="0" sz="1800" i="0" kern="1200" lang="ru-RU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токенизация</a:t>
                      </a:r>
                      <a:endParaRPr dirty="0" lang="ru-RU"/>
                    </a:p>
                  </a:txBody>
                </a:tc>
              </a:tr>
            </a:tbl>
          </a:graphicData>
        </a:graphic>
      </p:graphicFrame>
      <p:sp>
        <p:nvSpPr>
          <p:cNvPr id="1048636" name="TextBox 4"/>
          <p:cNvSpPr txBox="1"/>
          <p:nvPr/>
        </p:nvSpPr>
        <p:spPr>
          <a:xfrm>
            <a:off x="539552" y="5157192"/>
            <a:ext cx="8012281" cy="358141"/>
          </a:xfrm>
          <a:prstGeom prst="rect"/>
          <a:noFill/>
        </p:spPr>
        <p:txBody>
          <a:bodyPr rtlCol="0" wrap="none">
            <a:spAutoFit/>
          </a:bodyPr>
          <a:p>
            <a:r>
              <a:rPr b="1" dirty="0" lang="ru-RU"/>
              <a:t>Инструменты:</a:t>
            </a:r>
            <a:r>
              <a:rPr dirty="0" lang="ru-RU"/>
              <a:t> </a:t>
            </a:r>
            <a:r>
              <a:rPr dirty="0" lang="en-US" err="1"/>
              <a:t>SentencePiece</a:t>
            </a:r>
            <a:r>
              <a:rPr dirty="0" lang="en-US"/>
              <a:t>, HF </a:t>
            </a:r>
            <a:r>
              <a:rPr dirty="0" lang="en-US" err="1"/>
              <a:t>tokenizers</a:t>
            </a:r>
            <a:r>
              <a:rPr dirty="0" lang="en-US"/>
              <a:t>, </a:t>
            </a:r>
            <a:r>
              <a:rPr dirty="0" lang="en-US" err="1"/>
              <a:t>tiktoken</a:t>
            </a:r>
            <a:r>
              <a:rPr dirty="0" lang="en-US"/>
              <a:t>, NLTK, </a:t>
            </a:r>
            <a:r>
              <a:rPr dirty="0" lang="en-US" err="1"/>
              <a:t>spaCy</a:t>
            </a:r>
            <a:r>
              <a:rPr dirty="0" lang="en-US"/>
              <a:t>, </a:t>
            </a:r>
            <a:r>
              <a:rPr dirty="0" lang="en-US" err="1"/>
              <a:t>SymPy</a:t>
            </a:r>
            <a:r>
              <a:rPr dirty="0" lang="en-US"/>
              <a:t>.</a:t>
            </a:r>
            <a:endParaRPr dirty="0" lang="ru-RU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7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b="1" dirty="0" lang="ru-RU"/>
              <a:t>Аугментация: цель и </a:t>
            </a:r>
            <a:r>
              <a:rPr b="1" dirty="0" lang="ru-RU" smtClean="0"/>
              <a:t>методы</a:t>
            </a:r>
            <a:endParaRPr dirty="0" lang="ru-RU"/>
          </a:p>
        </p:txBody>
      </p:sp>
      <p:sp>
        <p:nvSpPr>
          <p:cNvPr id="1048638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b="1" dirty="0" sz="1600" lang="ru-RU"/>
              <a:t>Цель:</a:t>
            </a:r>
            <a:r>
              <a:rPr dirty="0" sz="1600" lang="ru-RU"/>
              <a:t> Увеличить объём и разнообразие данных, бороться с дисбалансом классов.</a:t>
            </a:r>
          </a:p>
          <a:p>
            <a:r>
              <a:rPr b="1" dirty="0" sz="1600" lang="ru-RU"/>
              <a:t>Методы аугментации:</a:t>
            </a:r>
            <a:endParaRPr dirty="0" sz="1600" lang="ru-RU"/>
          </a:p>
          <a:p>
            <a:endParaRPr dirty="0" sz="1600" lang="ru-RU"/>
          </a:p>
        </p:txBody>
      </p:sp>
      <p:graphicFrame>
        <p:nvGraphicFramePr>
          <p:cNvPr id="4194313" name="Таблица 3"/>
          <p:cNvGraphicFramePr>
            <a:graphicFrameLocks noGrp="1"/>
          </p:cNvGraphicFramePr>
          <p:nvPr/>
        </p:nvGraphicFramePr>
        <p:xfrm>
          <a:off x="539552" y="2204865"/>
          <a:ext cx="8208912" cy="44331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6304"/>
                <a:gridCol w="2736304"/>
                <a:gridCol w="2736304"/>
              </a:tblGrid>
              <a:tr h="345473">
                <a:tc>
                  <a:txBody>
                    <a:bodyPr/>
                    <a:p>
                      <a:r>
                        <a:rPr b="0" dirty="0" sz="1100" i="0" kern="1200" lang="ru-RU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Метод</a:t>
                      </a:r>
                      <a:endParaRPr b="0" dirty="0" sz="110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100" i="0" kern="1200" lang="ru-RU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Описание</a:t>
                      </a:r>
                      <a:endParaRPr b="0" dirty="0" sz="110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100" i="0" kern="1200" lang="ru-RU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Инструменты</a:t>
                      </a:r>
                      <a:endParaRPr b="0" dirty="0" sz="1100" lang="ru-RU"/>
                    </a:p>
                  </a:txBody>
                </a:tc>
              </a:tr>
              <a:tr h="345473">
                <a:tc>
                  <a:txBody>
                    <a:bodyPr/>
                    <a:p>
                      <a:r>
                        <a:rPr b="0" dirty="0" sz="11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Замена синонимами</a:t>
                      </a:r>
                      <a:endParaRPr b="0" dirty="0" sz="110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1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Словарная или контекстная</a:t>
                      </a:r>
                      <a:endParaRPr b="0" dirty="0" sz="110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100" i="0" kern="1200" lang="en-US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nlpaug</a:t>
                      </a:r>
                      <a:r>
                        <a:rPr b="0" dirty="0" sz="11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b="0" dirty="0" sz="1100" i="0" kern="1200" lang="ru-RU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кастомные</a:t>
                      </a:r>
                      <a:endParaRPr b="0" dirty="0" sz="1100" lang="ru-RU"/>
                    </a:p>
                  </a:txBody>
                </a:tc>
              </a:tr>
              <a:tr h="345473">
                <a:tc>
                  <a:txBody>
                    <a:bodyPr/>
                    <a:p>
                      <a:r>
                        <a:rPr b="0" dirty="0" sz="11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Вставка/удаление слов</a:t>
                      </a:r>
                      <a:endParaRPr b="0" dirty="0" sz="110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1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Создание вариаций</a:t>
                      </a:r>
                      <a:endParaRPr b="0" dirty="0" sz="110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100" i="0" kern="1200" lang="en-US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nlpaug</a:t>
                      </a:r>
                      <a:endParaRPr b="0" dirty="0" sz="1100" lang="ru-RU"/>
                    </a:p>
                  </a:txBody>
                </a:tc>
              </a:tr>
              <a:tr h="345473">
                <a:tc>
                  <a:txBody>
                    <a:bodyPr/>
                    <a:p>
                      <a:r>
                        <a:rPr b="0" dirty="0" sz="11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Перестановка слов</a:t>
                      </a:r>
                      <a:endParaRPr b="0" dirty="0" sz="110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1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Устойчивость к порядку</a:t>
                      </a:r>
                      <a:endParaRPr b="0" dirty="0" sz="110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1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random, </a:t>
                      </a:r>
                      <a:r>
                        <a:rPr b="0" dirty="0" sz="1100" i="0" kern="1200" lang="ru-RU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кастомные</a:t>
                      </a:r>
                      <a:endParaRPr b="0" dirty="0" sz="1100" lang="ru-RU"/>
                    </a:p>
                  </a:txBody>
                </a:tc>
              </a:tr>
              <a:tr h="345473">
                <a:tc>
                  <a:txBody>
                    <a:bodyPr/>
                    <a:p>
                      <a:r>
                        <a:rPr b="0" dirty="0" sz="11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Back-translation</a:t>
                      </a:r>
                      <a:endParaRPr b="0" dirty="0" sz="110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1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Перевод </a:t>
                      </a:r>
                      <a:r>
                        <a:rPr b="0" dirty="0" sz="1100" i="0" kern="1200" lang="ru-RU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туда-обратно</a:t>
                      </a:r>
                      <a:endParaRPr b="0" dirty="0" sz="110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100" i="0" kern="1200" lang="en-US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MarianMT</a:t>
                      </a:r>
                      <a:r>
                        <a:rPr b="0" dirty="0" sz="11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OPUS</a:t>
                      </a:r>
                      <a:endParaRPr b="0" dirty="0" sz="1100" lang="ru-RU"/>
                    </a:p>
                  </a:txBody>
                </a:tc>
              </a:tr>
              <a:tr h="370460">
                <a:tc>
                  <a:txBody>
                    <a:bodyPr/>
                    <a:p>
                      <a:r>
                        <a:rPr b="0" dirty="0" sz="11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LLM-</a:t>
                      </a:r>
                      <a:r>
                        <a:rPr b="0" dirty="0" sz="11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ориентированная</a:t>
                      </a:r>
                      <a:endParaRPr b="0" dirty="0" sz="110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1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Перефразирование с сохранением смысла</a:t>
                      </a:r>
                      <a:endParaRPr b="0" dirty="0" sz="110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1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GPT-4, Llama, Mistral</a:t>
                      </a:r>
                      <a:endParaRPr b="0" dirty="0" sz="1100" lang="ru-RU"/>
                    </a:p>
                  </a:txBody>
                </a:tc>
              </a:tr>
              <a:tr h="370460">
                <a:tc>
                  <a:txBody>
                    <a:bodyPr/>
                    <a:p>
                      <a:r>
                        <a:rPr b="0" dirty="0" sz="11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Контрастная</a:t>
                      </a:r>
                      <a:endParaRPr b="0" dirty="0" sz="110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1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Сложные негативные примеры</a:t>
                      </a:r>
                      <a:endParaRPr b="0" dirty="0" sz="110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100" i="0" kern="1200" lang="en-US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SimCSE</a:t>
                      </a:r>
                      <a:endParaRPr b="0" dirty="0" sz="1100" lang="ru-RU"/>
                    </a:p>
                  </a:txBody>
                </a:tc>
              </a:tr>
              <a:tr h="370460">
                <a:tc>
                  <a:txBody>
                    <a:bodyPr/>
                    <a:p>
                      <a:r>
                        <a:rPr b="0" dirty="0" sz="11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Семантическая</a:t>
                      </a:r>
                      <a:endParaRPr b="0" dirty="0" sz="110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1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Перефразирование, суммирование</a:t>
                      </a:r>
                      <a:endParaRPr b="0" dirty="0" sz="110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1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T5, BART</a:t>
                      </a:r>
                      <a:endParaRPr b="0" dirty="0" sz="1100" lang="ru-RU"/>
                    </a:p>
                  </a:txBody>
                </a:tc>
              </a:tr>
              <a:tr h="406410">
                <a:tc>
                  <a:txBody>
                    <a:bodyPr/>
                    <a:p>
                      <a:r>
                        <a:rPr b="0" dirty="0" sz="11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Числовая</a:t>
                      </a:r>
                      <a:endParaRPr b="0" dirty="0" sz="110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1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Изменение в диапазоне с сохранением размерности</a:t>
                      </a:r>
                      <a:endParaRPr b="0" dirty="0" sz="110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100" i="0" kern="1200" lang="en-US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numpy</a:t>
                      </a:r>
                      <a:r>
                        <a:rPr b="0" dirty="0" sz="11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Pint</a:t>
                      </a:r>
                      <a:endParaRPr b="0" dirty="0" sz="1100" lang="ru-RU"/>
                    </a:p>
                  </a:txBody>
                </a:tc>
              </a:tr>
              <a:tr h="370460">
                <a:tc>
                  <a:txBody>
                    <a:bodyPr/>
                    <a:p>
                      <a:r>
                        <a:rPr b="0" dirty="0" sz="11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Формульная</a:t>
                      </a:r>
                      <a:endParaRPr b="0" dirty="0" sz="110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1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Эквивалентные преобразования</a:t>
                      </a:r>
                      <a:endParaRPr b="0" dirty="0" sz="110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100" i="0" kern="1200" lang="en-US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SymPy</a:t>
                      </a:r>
                      <a:endParaRPr b="0" dirty="0" sz="1100" lang="ru-RU"/>
                    </a:p>
                  </a:txBody>
                </a:tc>
              </a:tr>
              <a:tr h="406410">
                <a:tc>
                  <a:txBody>
                    <a:bodyPr/>
                    <a:p>
                      <a:r>
                        <a:rPr b="0" dirty="0" sz="11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Табличная</a:t>
                      </a:r>
                      <a:endParaRPr b="0" dirty="0" sz="110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1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Изменение данных с сохранением структуры</a:t>
                      </a:r>
                      <a:endParaRPr b="0" dirty="0" sz="110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1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pandas</a:t>
                      </a:r>
                      <a:endParaRPr b="0" dirty="0" sz="1100" lang="ru-RU"/>
                    </a:p>
                  </a:txBody>
                </a:tc>
              </a:tr>
              <a:tr h="370460">
                <a:tc>
                  <a:txBody>
                    <a:bodyPr/>
                    <a:p>
                      <a:r>
                        <a:rPr b="0" dirty="0" sz="11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Для редких классов</a:t>
                      </a:r>
                      <a:endParaRPr b="0" dirty="0" sz="110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1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Целенаправленная генерация</a:t>
                      </a:r>
                      <a:endParaRPr b="0" dirty="0" sz="110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1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imbalanced-learn</a:t>
                      </a:r>
                      <a:endParaRPr b="0" dirty="0" sz="1100" lang="ru-RU"/>
                    </a:p>
                  </a:txBody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9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3182"/>
          </a:bodyPr>
          <a:p>
            <a:r>
              <a:rPr b="1" dirty="0" lang="ru-RU"/>
              <a:t>Эволюция методов </a:t>
            </a:r>
            <a:r>
              <a:rPr b="1" dirty="0" lang="ru-RU" smtClean="0"/>
              <a:t>аугментации</a:t>
            </a:r>
            <a:endParaRPr dirty="0" lang="ru-RU"/>
          </a:p>
        </p:txBody>
      </p:sp>
      <p:graphicFrame>
        <p:nvGraphicFramePr>
          <p:cNvPr id="4194314" name="Содержимое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323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2592"/>
                <a:gridCol w="5987008"/>
              </a:tblGrid>
              <a:tr h="370840"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Период</a:t>
                      </a:r>
                      <a:endParaRPr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Подход</a:t>
                      </a:r>
                      <a:endParaRPr dirty="0" lang="ru-RU"/>
                    </a:p>
                  </a:txBody>
                </a:tc>
              </a:tr>
              <a:tr h="370840"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2010–2015</a:t>
                      </a:r>
                      <a:endParaRPr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Простые лингвистические методы (NLTK, </a:t>
                      </a:r>
                      <a:r>
                        <a:rPr b="0" dirty="0" sz="1800" i="0" kern="1200" lang="ru-RU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TextAugment</a:t>
                      </a:r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dirty="0" lang="ru-RU"/>
                    </a:p>
                  </a:txBody>
                </a:tc>
              </a:tr>
              <a:tr h="370840"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2015–2018</a:t>
                      </a:r>
                      <a:endParaRPr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Back-translation (Google Translate, </a:t>
                      </a:r>
                      <a:r>
                        <a:rPr b="0" dirty="0" sz="1800" i="0" kern="1200" lang="en-US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MarianMT</a:t>
                      </a:r>
                      <a:r>
                        <a:rPr b="0" dirty="0" sz="18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dirty="0" lang="ru-RU"/>
                    </a:p>
                  </a:txBody>
                </a:tc>
              </a:tr>
              <a:tr h="370840"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2018–2020</a:t>
                      </a:r>
                      <a:endParaRPr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EDA (Easy Data Augmentation), </a:t>
                      </a:r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доменные словари</a:t>
                      </a:r>
                      <a:endParaRPr dirty="0" lang="ru-RU"/>
                    </a:p>
                  </a:txBody>
                </a:tc>
              </a:tr>
              <a:tr h="370840"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2020–2022</a:t>
                      </a:r>
                      <a:endParaRPr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Контрастное обучение (</a:t>
                      </a:r>
                      <a:r>
                        <a:rPr b="0" dirty="0" sz="1800" i="0" kern="1200" lang="en-US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SimCSE</a:t>
                      </a:r>
                      <a:r>
                        <a:rPr b="0" dirty="0" sz="18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dirty="0" lang="ru-RU"/>
                    </a:p>
                  </a:txBody>
                </a:tc>
              </a:tr>
              <a:tr h="370840"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2022–2024</a:t>
                      </a:r>
                      <a:endParaRPr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БЯМ (</a:t>
                      </a:r>
                      <a:r>
                        <a:rPr b="0" dirty="0" sz="18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GPT-3, </a:t>
                      </a:r>
                      <a:r>
                        <a:rPr b="0" dirty="0" sz="1800" i="0" kern="1200" lang="en-US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ChatGPT</a:t>
                      </a:r>
                      <a:r>
                        <a:rPr b="0" dirty="0" sz="18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dirty="0" lang="ru-RU"/>
                    </a:p>
                  </a:txBody>
                </a:tc>
              </a:tr>
              <a:tr h="370840"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2024–наст.</a:t>
                      </a:r>
                      <a:endParaRPr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Гибрид: локальные БЯМ (</a:t>
                      </a:r>
                      <a:r>
                        <a:rPr b="0" dirty="0" sz="1800" i="0" kern="1200" lang="ru-RU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Llama</a:t>
                      </a:r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b="0" dirty="0" sz="1800" i="0" kern="1200" lang="ru-RU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Mistral</a:t>
                      </a:r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 + правила + ГЗ + онтологии</a:t>
                      </a:r>
                      <a:endParaRPr dirty="0" lang="ru-RU"/>
                    </a:p>
                  </a:txBody>
                </a:tc>
              </a:tr>
              <a:tr h="370840"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Перспектива</a:t>
                      </a:r>
                      <a:endParaRPr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ru-RU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Мультимодальная</a:t>
                      </a:r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аугментация (GPT-4o, </a:t>
                      </a:r>
                      <a:r>
                        <a:rPr b="0" dirty="0" sz="1800" i="0" kern="1200" lang="ru-RU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Claude</a:t>
                      </a:r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3.5)</a:t>
                      </a:r>
                      <a:endParaRPr dirty="0" lang="ru-RU"/>
                    </a:p>
                  </a:txBody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0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b="1" dirty="0" lang="ru-RU"/>
              <a:t>Алгоритм </a:t>
            </a:r>
            <a:r>
              <a:rPr b="1" dirty="0" lang="ru-RU" smtClean="0"/>
              <a:t>аугментации</a:t>
            </a:r>
            <a:endParaRPr dirty="0" lang="ru-RU"/>
          </a:p>
        </p:txBody>
      </p:sp>
      <p:sp>
        <p:nvSpPr>
          <p:cNvPr id="1048641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51071" lnSpcReduction="20000"/>
          </a:bodyPr>
          <a:p>
            <a:r>
              <a:rPr b="1" dirty="0" lang="ru-RU"/>
              <a:t>Предварительный анализ:</a:t>
            </a:r>
            <a:r>
              <a:rPr dirty="0" lang="ru-RU"/>
              <a:t> объём данных, баланс классов, типы.</a:t>
            </a:r>
          </a:p>
          <a:p>
            <a:r>
              <a:rPr b="1" dirty="0" lang="ru-RU"/>
              <a:t>Защита критических элементов:</a:t>
            </a:r>
            <a:endParaRPr dirty="0" lang="ru-RU"/>
          </a:p>
          <a:p>
            <a:pPr lvl="1"/>
            <a:r>
              <a:rPr dirty="0" lang="ru-RU"/>
              <a:t>числа и единицы — сохранять;</a:t>
            </a:r>
          </a:p>
          <a:p>
            <a:pPr lvl="1"/>
            <a:r>
              <a:rPr dirty="0" lang="ru-RU"/>
              <a:t>формулы — не изменять;</a:t>
            </a:r>
          </a:p>
          <a:p>
            <a:pPr lvl="1"/>
            <a:r>
              <a:rPr dirty="0" lang="ru-RU"/>
              <a:t>таблицы — сохранять структуру;</a:t>
            </a:r>
          </a:p>
          <a:p>
            <a:pPr lvl="1"/>
            <a:r>
              <a:rPr dirty="0" lang="ru-RU"/>
              <a:t>аббревиатуры — не изменять.</a:t>
            </a:r>
          </a:p>
          <a:p>
            <a:r>
              <a:rPr b="1" dirty="0" lang="ru-RU"/>
              <a:t>Базовые методы:</a:t>
            </a:r>
            <a:r>
              <a:rPr dirty="0" lang="ru-RU"/>
              <a:t> синонимы (с базой знаний </a:t>
            </a:r>
            <a:r>
              <a:rPr dirty="0" lang="ru-RU" err="1"/>
              <a:t>ПрО</a:t>
            </a:r>
            <a:r>
              <a:rPr dirty="0" lang="ru-RU"/>
              <a:t>), вставка/удаление, перестановка, </a:t>
            </a:r>
            <a:r>
              <a:rPr dirty="0" lang="ru-RU" err="1"/>
              <a:t>back-translation</a:t>
            </a:r>
            <a:r>
              <a:rPr dirty="0" lang="ru-RU"/>
              <a:t>.</a:t>
            </a:r>
          </a:p>
          <a:p>
            <a:r>
              <a:rPr b="1" dirty="0" lang="ru-RU"/>
              <a:t>Специализированная аугментация:</a:t>
            </a:r>
            <a:endParaRPr dirty="0" lang="ru-RU"/>
          </a:p>
          <a:p>
            <a:pPr lvl="1"/>
            <a:r>
              <a:rPr dirty="0" lang="ru-RU"/>
              <a:t>числа в диапазонах ±10–20%;</a:t>
            </a:r>
          </a:p>
          <a:p>
            <a:pPr lvl="1"/>
            <a:r>
              <a:rPr dirty="0" lang="ru-RU"/>
              <a:t>конвертация единиц;</a:t>
            </a:r>
          </a:p>
          <a:p>
            <a:pPr lvl="1"/>
            <a:r>
              <a:rPr dirty="0" lang="ru-RU"/>
              <a:t>эквивалентные преобразования формул (</a:t>
            </a:r>
            <a:r>
              <a:rPr dirty="0" lang="ru-RU" err="1"/>
              <a:t>SymPy</a:t>
            </a:r>
            <a:r>
              <a:rPr dirty="0" lang="ru-RU"/>
              <a:t>);</a:t>
            </a:r>
          </a:p>
          <a:p>
            <a:pPr lvl="1"/>
            <a:r>
              <a:rPr dirty="0" lang="ru-RU"/>
              <a:t>изменение данных в таблицах.</a:t>
            </a:r>
          </a:p>
          <a:p>
            <a:r>
              <a:rPr b="1" dirty="0" lang="ru-RU"/>
              <a:t>Аугментация с БЯМ:</a:t>
            </a:r>
            <a:r>
              <a:rPr dirty="0" lang="ru-RU"/>
              <a:t> перефразирование, генерация редких классов, расширение контекста.</a:t>
            </a:r>
          </a:p>
          <a:p>
            <a:r>
              <a:rPr b="1" dirty="0" lang="ru-RU" err="1"/>
              <a:t>Валидация</a:t>
            </a:r>
            <a:r>
              <a:rPr b="1" dirty="0" lang="ru-RU"/>
              <a:t>:</a:t>
            </a:r>
            <a:endParaRPr dirty="0" lang="ru-RU"/>
          </a:p>
          <a:p>
            <a:pPr lvl="1"/>
            <a:r>
              <a:rPr dirty="0" lang="ru-RU"/>
              <a:t>сохранение смысла ≥ 85%;</a:t>
            </a:r>
          </a:p>
          <a:p>
            <a:pPr lvl="1"/>
            <a:r>
              <a:rPr dirty="0" lang="ru-RU"/>
              <a:t>точность чисел/формул = 100%;</a:t>
            </a:r>
          </a:p>
          <a:p>
            <a:pPr lvl="1"/>
            <a:r>
              <a:rPr dirty="0" lang="ru-RU"/>
              <a:t>грамматика и логика ≥ 90%.</a:t>
            </a:r>
          </a:p>
          <a:p>
            <a:r>
              <a:rPr b="1" dirty="0" lang="ru-RU"/>
              <a:t>Интеграция в </a:t>
            </a:r>
            <a:r>
              <a:rPr b="1" dirty="0" lang="ru-RU" err="1"/>
              <a:t>датасет</a:t>
            </a:r>
            <a:r>
              <a:rPr b="1" dirty="0" lang="ru-RU"/>
              <a:t>:</a:t>
            </a:r>
            <a:r>
              <a:rPr dirty="0" lang="ru-RU"/>
              <a:t> добавление, перемешивание, сохранение метаданных.</a:t>
            </a:r>
          </a:p>
          <a:p>
            <a:endParaRPr dirty="0" lang="ru-RU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b="1" dirty="0" lang="ru-RU"/>
              <a:t>Проблемы и решения при </a:t>
            </a:r>
            <a:r>
              <a:rPr b="1" dirty="0" lang="ru-RU" smtClean="0"/>
              <a:t>аугментации</a:t>
            </a:r>
            <a:endParaRPr dirty="0" lang="ru-RU"/>
          </a:p>
        </p:txBody>
      </p:sp>
      <p:graphicFrame>
        <p:nvGraphicFramePr>
          <p:cNvPr id="4194315" name="Содержимое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312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34680"/>
                <a:gridCol w="5194920"/>
              </a:tblGrid>
              <a:tr h="370840"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Проблема</a:t>
                      </a:r>
                      <a:endParaRPr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Решение</a:t>
                      </a:r>
                      <a:endParaRPr dirty="0" lang="ru-RU"/>
                    </a:p>
                  </a:txBody>
                </a:tc>
              </a:tr>
              <a:tr h="370840"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Синонимы не эквивалентны в </a:t>
                      </a:r>
                      <a:r>
                        <a:rPr b="0" dirty="0" sz="1800" i="0" kern="1200" lang="ru-RU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ПрО</a:t>
                      </a:r>
                      <a:endParaRPr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Доменные словари, онтологии, БЯМ с инструкцией сохранять термины</a:t>
                      </a:r>
                      <a:endParaRPr dirty="0" lang="ru-RU"/>
                    </a:p>
                  </a:txBody>
                </a:tc>
              </a:tr>
              <a:tr h="370840"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Изменение числовых параметров</a:t>
                      </a:r>
                      <a:endParaRPr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Строгие диапазоны + </a:t>
                      </a:r>
                      <a:r>
                        <a:rPr b="0" dirty="0" sz="1800" i="0" kern="1200" lang="ru-RU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валидация</a:t>
                      </a:r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+ экспертная оценка</a:t>
                      </a:r>
                      <a:endParaRPr dirty="0" lang="ru-RU"/>
                    </a:p>
                  </a:txBody>
                </a:tc>
              </a:tr>
              <a:tr h="370840"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Разрыв чисел с единицами</a:t>
                      </a:r>
                      <a:endParaRPr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Защита маркерами</a:t>
                      </a:r>
                      <a:endParaRPr dirty="0" lang="ru-RU"/>
                    </a:p>
                  </a:txBody>
                </a:tc>
              </a:tr>
              <a:tr h="370840"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Разрыв формул</a:t>
                      </a:r>
                      <a:endParaRPr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AST-</a:t>
                      </a:r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преобразования через </a:t>
                      </a:r>
                      <a:r>
                        <a:rPr b="0" dirty="0" sz="1800" i="0" kern="1200" lang="en-US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SymPy</a:t>
                      </a:r>
                      <a:endParaRPr dirty="0" lang="ru-RU"/>
                    </a:p>
                  </a:txBody>
                </a:tc>
              </a:tr>
              <a:tr h="370840"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Дорого использовать </a:t>
                      </a:r>
                      <a:r>
                        <a:rPr b="0" dirty="0" sz="18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GPT-4</a:t>
                      </a:r>
                      <a:endParaRPr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Гибрид: локальные </a:t>
                      </a:r>
                      <a:r>
                        <a:rPr b="0" dirty="0" sz="1800" i="0" kern="1200" lang="ru-RU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Llama</a:t>
                      </a:r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b="0" dirty="0" sz="1800" i="0" kern="1200" lang="ru-RU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Mistral</a:t>
                      </a:r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+ GPT-4 для сложных случаев</a:t>
                      </a:r>
                      <a:endParaRPr dirty="0" lang="ru-RU"/>
                    </a:p>
                  </a:txBody>
                </a:tc>
              </a:tr>
              <a:tr h="370840"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Нереалистичные данные от БЯМ</a:t>
                      </a:r>
                      <a:endParaRPr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Экспертная оценка + автоматическая проверка + </a:t>
                      </a:r>
                      <a:r>
                        <a:rPr b="0" dirty="0" sz="1800" i="0" kern="1200" lang="ru-RU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LLM-as-a-judge</a:t>
                      </a:r>
                      <a:endParaRPr dirty="0" lang="ru-RU"/>
                    </a:p>
                  </a:txBody>
                </a:tc>
              </a:tr>
              <a:tr h="370840"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Дисбаланс классов</a:t>
                      </a:r>
                      <a:endParaRPr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Целенаправленная генерация + контрастное обучение</a:t>
                      </a:r>
                      <a:endParaRPr dirty="0" lang="ru-RU"/>
                    </a:p>
                  </a:txBody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3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5455"/>
          </a:bodyPr>
          <a:p>
            <a:r>
              <a:rPr b="1" dirty="0" lang="ru-RU"/>
              <a:t>Векторизация: группы </a:t>
            </a:r>
            <a:r>
              <a:rPr b="1" dirty="0" lang="ru-RU" smtClean="0"/>
              <a:t>моделей</a:t>
            </a:r>
            <a:endParaRPr dirty="0" lang="ru-RU"/>
          </a:p>
        </p:txBody>
      </p:sp>
      <p:sp>
        <p:nvSpPr>
          <p:cNvPr id="1048644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b="1" dirty="0" sz="1400" lang="ru-RU"/>
              <a:t>Цель:</a:t>
            </a:r>
            <a:r>
              <a:rPr dirty="0" sz="1400" lang="ru-RU"/>
              <a:t> Преобразовать текст в числовые векторы для NLP-моделей.</a:t>
            </a:r>
          </a:p>
          <a:p>
            <a:r>
              <a:rPr b="1" dirty="0" sz="1400" lang="ru-RU"/>
              <a:t>Группы моделей:</a:t>
            </a:r>
            <a:endParaRPr dirty="0" sz="1400" lang="ru-RU"/>
          </a:p>
          <a:p>
            <a:endParaRPr dirty="0" sz="1400" lang="ru-RU"/>
          </a:p>
        </p:txBody>
      </p:sp>
      <p:graphicFrame>
        <p:nvGraphicFramePr>
          <p:cNvPr id="4194316" name="Таблица 3"/>
          <p:cNvGraphicFramePr>
            <a:graphicFrameLocks noGrp="1"/>
          </p:cNvGraphicFramePr>
          <p:nvPr/>
        </p:nvGraphicFramePr>
        <p:xfrm>
          <a:off x="539552" y="2204864"/>
          <a:ext cx="8208912" cy="3744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6304"/>
                <a:gridCol w="2736304"/>
                <a:gridCol w="2736304"/>
              </a:tblGrid>
              <a:tr h="468052">
                <a:tc>
                  <a:txBody>
                    <a:bodyPr/>
                    <a:p>
                      <a:r>
                        <a:rPr b="0" dirty="0" sz="1400" i="0" kern="1200" lang="ru-RU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Группа</a:t>
                      </a:r>
                      <a:endParaRPr dirty="0" sz="140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400" i="0" kern="1200" lang="ru-RU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Модели</a:t>
                      </a:r>
                      <a:endParaRPr dirty="0" sz="140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400" i="0" kern="1200" lang="ru-RU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Применение</a:t>
                      </a:r>
                      <a:endParaRPr dirty="0" sz="1400" lang="ru-RU"/>
                    </a:p>
                  </a:txBody>
                </a:tc>
              </a:tr>
              <a:tr h="468052">
                <a:tc>
                  <a:txBody>
                    <a:bodyPr/>
                    <a:p>
                      <a:r>
                        <a:rPr b="0" dirty="0" sz="14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Частотные</a:t>
                      </a:r>
                      <a:endParaRPr b="0" dirty="0" sz="140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400" i="0" kern="1200" lang="en-US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BoW</a:t>
                      </a:r>
                      <a:r>
                        <a:rPr b="0" dirty="0" sz="14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TF-IDF, BM25</a:t>
                      </a:r>
                      <a:endParaRPr dirty="0" sz="140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4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Классический поиск</a:t>
                      </a:r>
                      <a:endParaRPr dirty="0" sz="1400" lang="ru-RU"/>
                    </a:p>
                  </a:txBody>
                </a:tc>
              </a:tr>
              <a:tr h="468052">
                <a:tc>
                  <a:txBody>
                    <a:bodyPr/>
                    <a:p>
                      <a:r>
                        <a:rPr b="0" dirty="0" sz="14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Векторные</a:t>
                      </a:r>
                      <a:endParaRPr b="0" dirty="0" sz="140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4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Word2Vec, </a:t>
                      </a:r>
                      <a:r>
                        <a:rPr b="0" dirty="0" sz="1400" i="0" kern="1200" lang="en-US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GloVe</a:t>
                      </a:r>
                      <a:r>
                        <a:rPr b="0" dirty="0" sz="14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b="0" dirty="0" sz="1400" i="0" kern="1200" lang="en-US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FastText</a:t>
                      </a:r>
                      <a:endParaRPr dirty="0" sz="140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4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Плотные представления слов</a:t>
                      </a:r>
                      <a:endParaRPr dirty="0" sz="1400" lang="ru-RU"/>
                    </a:p>
                  </a:txBody>
                </a:tc>
              </a:tr>
              <a:tr h="468052">
                <a:tc>
                  <a:txBody>
                    <a:bodyPr/>
                    <a:p>
                      <a:r>
                        <a:rPr b="0" dirty="0" sz="1400" i="0" kern="1200" lang="ru-RU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Трансформерные</a:t>
                      </a:r>
                      <a:endParaRPr b="0" dirty="0" sz="140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4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BERT, </a:t>
                      </a:r>
                      <a:r>
                        <a:rPr b="0" dirty="0" sz="1400" i="0" kern="1200" lang="en-US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RoBERTa</a:t>
                      </a:r>
                      <a:endParaRPr dirty="0" sz="140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4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Контекстные </a:t>
                      </a:r>
                      <a:r>
                        <a:rPr b="0" dirty="0" sz="1400" i="0" kern="1200" lang="ru-RU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эмбеддинги</a:t>
                      </a:r>
                      <a:endParaRPr dirty="0" sz="1400" lang="ru-RU"/>
                    </a:p>
                  </a:txBody>
                </a:tc>
              </a:tr>
              <a:tr h="468052">
                <a:tc>
                  <a:txBody>
                    <a:bodyPr/>
                    <a:p>
                      <a:r>
                        <a:rPr b="0" dirty="0" sz="14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Поисковые</a:t>
                      </a:r>
                      <a:endParaRPr b="0" dirty="0" sz="140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4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Sentence-BERT, E5, GTE</a:t>
                      </a:r>
                      <a:endParaRPr dirty="0" sz="140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4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Семантический поиск, </a:t>
                      </a:r>
                      <a:r>
                        <a:rPr b="0" dirty="0" sz="14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RAG</a:t>
                      </a:r>
                      <a:endParaRPr dirty="0" sz="1400" lang="ru-RU"/>
                    </a:p>
                  </a:txBody>
                </a:tc>
              </a:tr>
              <a:tr h="468052">
                <a:tc>
                  <a:txBody>
                    <a:bodyPr/>
                    <a:p>
                      <a:r>
                        <a:rPr b="0" dirty="0" sz="1400" i="0" kern="1200" lang="ru-RU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Мультимодальные</a:t>
                      </a:r>
                      <a:endParaRPr b="0" dirty="0" sz="140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4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CLIP, </a:t>
                      </a:r>
                      <a:r>
                        <a:rPr b="0" dirty="0" sz="1400" i="0" kern="1200" lang="en-US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ImageBind</a:t>
                      </a:r>
                      <a:endParaRPr dirty="0" sz="140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400" i="0" kern="1200" lang="ru-RU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Кросс-модальный</a:t>
                      </a:r>
                      <a:r>
                        <a:rPr b="0" dirty="0" sz="14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поиск</a:t>
                      </a:r>
                      <a:endParaRPr dirty="0" sz="1400" lang="ru-RU"/>
                    </a:p>
                  </a:txBody>
                </a:tc>
              </a:tr>
              <a:tr h="468052">
                <a:tc>
                  <a:txBody>
                    <a:bodyPr/>
                    <a:p>
                      <a:r>
                        <a:rPr b="0" dirty="0" sz="1400" i="0" kern="1200" lang="ru-RU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Мультивекторные</a:t>
                      </a:r>
                      <a:endParaRPr b="0" dirty="0" sz="140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400" i="0" kern="1200" lang="en-US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ColBERT</a:t>
                      </a:r>
                      <a:r>
                        <a:rPr b="0" dirty="0" sz="14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ColBERTv2</a:t>
                      </a:r>
                      <a:endParaRPr dirty="0" sz="140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4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Точный поиск с деталями</a:t>
                      </a:r>
                      <a:endParaRPr dirty="0" sz="1400" lang="ru-RU"/>
                    </a:p>
                  </a:txBody>
                </a:tc>
              </a:tr>
              <a:tr h="468052">
                <a:tc>
                  <a:txBody>
                    <a:bodyPr/>
                    <a:p>
                      <a:r>
                        <a:rPr b="0" dirty="0" sz="14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Специализированные</a:t>
                      </a:r>
                      <a:endParaRPr b="0" dirty="0" sz="140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400" i="0" kern="1200" lang="en-US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MathBERT</a:t>
                      </a:r>
                      <a:r>
                        <a:rPr b="0" dirty="0" sz="14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Formula2Vec</a:t>
                      </a:r>
                      <a:endParaRPr dirty="0" sz="140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4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Формулы (</a:t>
                      </a:r>
                      <a:r>
                        <a:rPr b="0" dirty="0" sz="14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AST-</a:t>
                      </a:r>
                      <a:r>
                        <a:rPr b="0" dirty="0" sz="14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векторизация)</a:t>
                      </a:r>
                      <a:endParaRPr dirty="0" sz="1400" lang="ru-RU"/>
                    </a:p>
                  </a:txBody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5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b="1" dirty="0" lang="ru-RU"/>
              <a:t>Эволюция методов </a:t>
            </a:r>
            <a:r>
              <a:rPr b="1" dirty="0" lang="ru-RU" smtClean="0"/>
              <a:t>векторизации</a:t>
            </a:r>
            <a:endParaRPr dirty="0" lang="ru-RU"/>
          </a:p>
        </p:txBody>
      </p:sp>
      <p:graphicFrame>
        <p:nvGraphicFramePr>
          <p:cNvPr id="4194317" name="Содержимое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350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2592"/>
                <a:gridCol w="5987008"/>
              </a:tblGrid>
              <a:tr h="370840"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Период</a:t>
                      </a:r>
                      <a:endParaRPr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Подход</a:t>
                      </a:r>
                      <a:endParaRPr dirty="0" lang="ru-RU"/>
                    </a:p>
                  </a:txBody>
                </a:tc>
              </a:tr>
              <a:tr h="370840"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1990–2010</a:t>
                      </a:r>
                      <a:endParaRPr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en-US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BoW</a:t>
                      </a:r>
                      <a:r>
                        <a:rPr b="0" dirty="0" sz="18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TF-IDF</a:t>
                      </a:r>
                      <a:endParaRPr dirty="0" lang="ru-RU"/>
                    </a:p>
                  </a:txBody>
                </a:tc>
              </a:tr>
              <a:tr h="370840"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2010–2015</a:t>
                      </a:r>
                      <a:endParaRPr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Word2Vec, </a:t>
                      </a:r>
                      <a:r>
                        <a:rPr b="0" dirty="0" sz="1800" i="0" kern="1200" lang="en-US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GloVe</a:t>
                      </a:r>
                      <a:r>
                        <a:rPr b="0" dirty="0" sz="18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b="0" dirty="0" sz="1800" i="0" kern="1200" lang="en-US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FastText</a:t>
                      </a:r>
                      <a:r>
                        <a:rPr b="0" dirty="0" sz="18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b="0" dirty="0" sz="1800" i="0" kern="1200" lang="en-US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gensim</a:t>
                      </a:r>
                      <a:r>
                        <a:rPr b="0" dirty="0" sz="18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b="0" dirty="0" sz="1800" i="0" kern="1200" lang="en-US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spaCy</a:t>
                      </a:r>
                      <a:r>
                        <a:rPr b="0" dirty="0" sz="18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dirty="0" lang="ru-RU"/>
                    </a:p>
                  </a:txBody>
                </a:tc>
              </a:tr>
              <a:tr h="370840"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2015–2018</a:t>
                      </a:r>
                      <a:endParaRPr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en-US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ELMo</a:t>
                      </a:r>
                      <a:r>
                        <a:rPr b="0" dirty="0" sz="18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b="0" dirty="0" sz="1800" i="0" kern="1200" lang="en-US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ULMFiT</a:t>
                      </a:r>
                      <a:r>
                        <a:rPr b="0" dirty="0" sz="18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b="0" dirty="0" sz="1800" i="0" kern="1200" lang="en-US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AllenNLP</a:t>
                      </a:r>
                      <a:r>
                        <a:rPr b="0" dirty="0" sz="18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b="0" dirty="0" sz="1800" i="0" kern="1200" lang="en-US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fastai</a:t>
                      </a:r>
                      <a:r>
                        <a:rPr b="0" dirty="0" sz="18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dirty="0" lang="ru-RU"/>
                    </a:p>
                  </a:txBody>
                </a:tc>
              </a:tr>
              <a:tr h="370840"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2018–2020</a:t>
                      </a:r>
                      <a:endParaRPr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BERT, </a:t>
                      </a:r>
                      <a:r>
                        <a:rPr b="0" dirty="0" sz="1800" i="0" kern="1200" lang="en-US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RoBERTa</a:t>
                      </a:r>
                      <a:r>
                        <a:rPr b="0" dirty="0" sz="18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(Hugging Face) — </a:t>
                      </a:r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точность ~ 88%</a:t>
                      </a:r>
                      <a:endParaRPr dirty="0" lang="ru-RU"/>
                    </a:p>
                  </a:txBody>
                </a:tc>
              </a:tr>
              <a:tr h="370840"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2020–2022</a:t>
                      </a:r>
                      <a:endParaRPr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Sentence-BERT, E5, GTE (sentence-transformers) — </a:t>
                      </a:r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расцвет </a:t>
                      </a:r>
                      <a:r>
                        <a:rPr b="0" dirty="0" sz="18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RAG</a:t>
                      </a:r>
                      <a:endParaRPr dirty="0" lang="ru-RU"/>
                    </a:p>
                  </a:txBody>
                </a:tc>
              </a:tr>
              <a:tr h="370840"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2022–2024</a:t>
                      </a:r>
                      <a:endParaRPr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ru-RU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Мультивекторные</a:t>
                      </a:r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b="0" dirty="0" sz="1800" i="0" kern="1200" lang="en-US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ColBERT</a:t>
                      </a:r>
                      <a:r>
                        <a:rPr b="0" dirty="0" sz="18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), </a:t>
                      </a:r>
                      <a:r>
                        <a:rPr b="0" dirty="0" sz="1800" i="0" kern="1200" lang="ru-RU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мультимодальные</a:t>
                      </a:r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b="0" dirty="0" sz="18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CLIP, </a:t>
                      </a:r>
                      <a:r>
                        <a:rPr b="0" dirty="0" sz="1800" i="0" kern="1200" lang="en-US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ImageBind</a:t>
                      </a:r>
                      <a:r>
                        <a:rPr b="0" dirty="0" sz="18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dirty="0" lang="ru-RU"/>
                    </a:p>
                  </a:txBody>
                </a:tc>
              </a:tr>
              <a:tr h="370840"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2024–наст.</a:t>
                      </a:r>
                      <a:endParaRPr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Квантованные модели, гибридные системы, </a:t>
                      </a:r>
                      <a:r>
                        <a:rPr b="0" dirty="0" sz="1800" i="0" kern="1200" lang="ru-RU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кеширование</a:t>
                      </a:r>
                      <a:endParaRPr dirty="0" lang="ru-RU"/>
                    </a:p>
                  </a:txBody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6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b="1" dirty="0" lang="ru-RU"/>
              <a:t>Алгоритм </a:t>
            </a:r>
            <a:r>
              <a:rPr b="1" dirty="0" lang="ru-RU" smtClean="0"/>
              <a:t>векторизации</a:t>
            </a:r>
            <a:endParaRPr dirty="0" lang="ru-RU"/>
          </a:p>
        </p:txBody>
      </p:sp>
      <p:sp>
        <p:nvSpPr>
          <p:cNvPr id="1048647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p>
            <a:r>
              <a:rPr b="1" dirty="0" lang="ru-RU"/>
              <a:t>Предобработка:</a:t>
            </a:r>
            <a:r>
              <a:rPr dirty="0" lang="ru-RU"/>
              <a:t> временная замена формул, чисел, таблиц маркерами.</a:t>
            </a:r>
          </a:p>
          <a:p>
            <a:r>
              <a:rPr b="1" dirty="0" lang="ru-RU"/>
              <a:t>Выбор метода:</a:t>
            </a:r>
            <a:r>
              <a:rPr dirty="0" lang="ru-RU"/>
              <a:t> поиск / классификация / кластеризация / генерация + ресурсы.</a:t>
            </a:r>
          </a:p>
          <a:p>
            <a:r>
              <a:rPr b="1" dirty="0" lang="ru-RU"/>
              <a:t>Классическая векторизация:</a:t>
            </a:r>
            <a:endParaRPr dirty="0" lang="ru-RU"/>
          </a:p>
          <a:p>
            <a:pPr lvl="1"/>
            <a:r>
              <a:rPr dirty="0" lang="en-US"/>
              <a:t>TF-IDF (</a:t>
            </a:r>
            <a:r>
              <a:rPr dirty="0" lang="en-US" err="1"/>
              <a:t>sklearn</a:t>
            </a:r>
            <a:r>
              <a:rPr dirty="0" lang="en-US"/>
              <a:t>);</a:t>
            </a:r>
          </a:p>
          <a:p>
            <a:pPr lvl="1"/>
            <a:r>
              <a:rPr dirty="0" lang="en-US"/>
              <a:t>BM25 (</a:t>
            </a:r>
            <a:r>
              <a:rPr dirty="0" lang="en-US" err="1"/>
              <a:t>Elasticsearch</a:t>
            </a:r>
            <a:r>
              <a:rPr dirty="0" lang="en-US"/>
              <a:t>);</a:t>
            </a:r>
          </a:p>
          <a:p>
            <a:pPr lvl="1"/>
            <a:r>
              <a:rPr dirty="0" lang="ru-RU"/>
              <a:t>специальная обработка чисел.</a:t>
            </a:r>
          </a:p>
          <a:p>
            <a:r>
              <a:rPr b="1" dirty="0" lang="ru-RU" err="1"/>
              <a:t>Трансформерная</a:t>
            </a:r>
            <a:r>
              <a:rPr b="1" dirty="0" lang="ru-RU"/>
              <a:t> векторизация:</a:t>
            </a:r>
            <a:endParaRPr dirty="0" lang="ru-RU"/>
          </a:p>
          <a:p>
            <a:pPr lvl="1"/>
            <a:r>
              <a:rPr dirty="0" lang="en-US" err="1"/>
              <a:t>RuBERT</a:t>
            </a:r>
            <a:r>
              <a:rPr dirty="0" lang="en-US"/>
              <a:t> — </a:t>
            </a:r>
            <a:r>
              <a:rPr dirty="0" lang="ru-RU"/>
              <a:t>для русского;</a:t>
            </a:r>
          </a:p>
          <a:p>
            <a:pPr lvl="1"/>
            <a:r>
              <a:rPr dirty="0" lang="en-US"/>
              <a:t>E5 / GTE — </a:t>
            </a:r>
            <a:r>
              <a:rPr dirty="0" lang="ru-RU"/>
              <a:t>для поиска;</a:t>
            </a:r>
          </a:p>
          <a:p>
            <a:pPr lvl="1"/>
            <a:r>
              <a:rPr dirty="0" lang="en-US"/>
              <a:t>SBERT — </a:t>
            </a:r>
            <a:r>
              <a:rPr dirty="0" lang="ru-RU"/>
              <a:t>для семантической близости;</a:t>
            </a:r>
          </a:p>
          <a:p>
            <a:pPr lvl="1"/>
            <a:r>
              <a:rPr dirty="0" lang="ru-RU"/>
              <a:t>пакетное кодирование + </a:t>
            </a:r>
            <a:r>
              <a:rPr dirty="0" lang="ru-RU" err="1"/>
              <a:t>кеширование</a:t>
            </a:r>
            <a:r>
              <a:rPr dirty="0" lang="ru-RU"/>
              <a:t>.</a:t>
            </a:r>
          </a:p>
          <a:p>
            <a:r>
              <a:rPr b="1" dirty="0" lang="ru-RU"/>
              <a:t>Специализированная векторизация:</a:t>
            </a:r>
            <a:endParaRPr dirty="0" lang="ru-RU"/>
          </a:p>
          <a:p>
            <a:pPr lvl="1"/>
            <a:r>
              <a:rPr dirty="0" lang="en-US"/>
              <a:t>AST-</a:t>
            </a:r>
            <a:r>
              <a:rPr dirty="0" lang="ru-RU"/>
              <a:t>векторизация формул (</a:t>
            </a:r>
            <a:r>
              <a:rPr dirty="0" lang="en-US" err="1"/>
              <a:t>SymPy</a:t>
            </a:r>
            <a:r>
              <a:rPr dirty="0" lang="en-US"/>
              <a:t> → </a:t>
            </a:r>
            <a:r>
              <a:rPr dirty="0" lang="ru-RU"/>
              <a:t>вектор);</a:t>
            </a:r>
          </a:p>
          <a:p>
            <a:pPr lvl="1"/>
            <a:r>
              <a:rPr dirty="0" lang="ru-RU"/>
              <a:t>таблицы: заголовки + типы + содержимое;</a:t>
            </a:r>
          </a:p>
          <a:p>
            <a:pPr lvl="1"/>
            <a:r>
              <a:rPr dirty="0" lang="ru-RU"/>
              <a:t>числа с единицами: сохранение размерности;</a:t>
            </a:r>
          </a:p>
          <a:p>
            <a:pPr lvl="1"/>
            <a:r>
              <a:rPr dirty="0" lang="ru-RU" err="1"/>
              <a:t>мультимодальная</a:t>
            </a:r>
            <a:r>
              <a:rPr dirty="0" lang="ru-RU"/>
              <a:t>: </a:t>
            </a:r>
            <a:r>
              <a:rPr dirty="0" lang="en-US"/>
              <a:t>CLIP / </a:t>
            </a:r>
            <a:r>
              <a:rPr dirty="0" lang="en-US" err="1"/>
              <a:t>ImageBind</a:t>
            </a:r>
            <a:r>
              <a:rPr dirty="0" lang="en-US"/>
              <a:t>.</a:t>
            </a:r>
          </a:p>
          <a:p>
            <a:r>
              <a:rPr b="1" dirty="0" lang="ru-RU" err="1"/>
              <a:t>Дообучение</a:t>
            </a:r>
            <a:r>
              <a:rPr b="1" dirty="0" lang="ru-RU"/>
              <a:t> </a:t>
            </a:r>
            <a:r>
              <a:rPr b="1" dirty="0" lang="ru-RU" err="1"/>
              <a:t>эмбеддингов</a:t>
            </a:r>
            <a:r>
              <a:rPr b="1" dirty="0" lang="ru-RU"/>
              <a:t>:</a:t>
            </a:r>
            <a:r>
              <a:rPr dirty="0" lang="ru-RU"/>
              <a:t> </a:t>
            </a:r>
            <a:r>
              <a:rPr dirty="0" lang="en-US" err="1"/>
              <a:t>SimCSE</a:t>
            </a:r>
            <a:r>
              <a:rPr dirty="0" lang="en-US"/>
              <a:t>, Contrastive Learning, Multiple Negative Ranking.</a:t>
            </a:r>
          </a:p>
          <a:p>
            <a:r>
              <a:rPr b="1" dirty="0" lang="ru-RU"/>
              <a:t>Оптимизация:</a:t>
            </a:r>
            <a:r>
              <a:rPr dirty="0" lang="ru-RU"/>
              <a:t> </a:t>
            </a:r>
            <a:r>
              <a:rPr dirty="0" lang="en-US"/>
              <a:t>PCA (≥ 90% </a:t>
            </a:r>
            <a:r>
              <a:rPr dirty="0" lang="ru-RU"/>
              <a:t>дисперсии), квантование </a:t>
            </a:r>
            <a:r>
              <a:rPr dirty="0" lang="en-US"/>
              <a:t>Int8/Float16, </a:t>
            </a:r>
            <a:r>
              <a:rPr dirty="0" lang="ru-RU"/>
              <a:t>индексация (</a:t>
            </a:r>
            <a:r>
              <a:rPr dirty="0" lang="en-US"/>
              <a:t>FAISS, </a:t>
            </a:r>
            <a:r>
              <a:rPr dirty="0" lang="en-US" err="1"/>
              <a:t>Qdrant</a:t>
            </a:r>
            <a:r>
              <a:rPr dirty="0" lang="en-US"/>
              <a:t>, </a:t>
            </a:r>
            <a:r>
              <a:rPr dirty="0" lang="en-US" err="1"/>
              <a:t>Milvus</a:t>
            </a:r>
            <a:r>
              <a:rPr dirty="0" lang="en-US"/>
              <a:t>).</a:t>
            </a:r>
          </a:p>
          <a:p>
            <a:r>
              <a:rPr b="1" dirty="0" lang="ru-RU" err="1"/>
              <a:t>Валидация</a:t>
            </a:r>
            <a:r>
              <a:rPr b="1" dirty="0" lang="ru-RU"/>
              <a:t>:</a:t>
            </a:r>
            <a:r>
              <a:rPr dirty="0" lang="ru-RU"/>
              <a:t> </a:t>
            </a:r>
            <a:r>
              <a:rPr dirty="0" lang="en-US"/>
              <a:t>MTEB, BEIR, </a:t>
            </a:r>
            <a:r>
              <a:rPr dirty="0" lang="en-US" err="1"/>
              <a:t>RuMTEB</a:t>
            </a:r>
            <a:r>
              <a:rPr dirty="0" lang="en-US"/>
              <a:t>; Hit Rate@10, MRR, NDCG.</a:t>
            </a:r>
          </a:p>
          <a:p>
            <a:endParaRPr dirty="0" lang="ru-RU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8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b="1" dirty="0" lang="ru-RU"/>
              <a:t>Проблемы и решения при </a:t>
            </a:r>
            <a:r>
              <a:rPr b="1" dirty="0" lang="ru-RU" smtClean="0"/>
              <a:t>векторизации</a:t>
            </a:r>
            <a:endParaRPr dirty="0" lang="ru-RU"/>
          </a:p>
        </p:txBody>
      </p:sp>
      <p:graphicFrame>
        <p:nvGraphicFramePr>
          <p:cNvPr id="4194318" name="Содержимое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340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2632"/>
                <a:gridCol w="5626968"/>
              </a:tblGrid>
              <a:tr h="370840"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Проблема</a:t>
                      </a:r>
                      <a:endParaRPr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Решение</a:t>
                      </a:r>
                      <a:endParaRPr dirty="0" lang="ru-RU"/>
                    </a:p>
                  </a:txBody>
                </a:tc>
              </a:tr>
              <a:tr h="370840"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Не сохраняются точные числа</a:t>
                      </a:r>
                      <a:endParaRPr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Отдельная индексация чисел + гибридный поиск с числовыми фильтрами</a:t>
                      </a:r>
                      <a:endParaRPr dirty="0" lang="ru-RU"/>
                    </a:p>
                  </a:txBody>
                </a:tc>
              </a:tr>
              <a:tr h="370840"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Потеря математической структуры формул</a:t>
                      </a:r>
                      <a:endParaRPr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AST-</a:t>
                      </a:r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векторизация + </a:t>
                      </a:r>
                      <a:r>
                        <a:rPr b="0" dirty="0" sz="1800" i="0" kern="1200" lang="en-US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MathBERT</a:t>
                      </a:r>
                      <a:endParaRPr dirty="0" lang="ru-RU"/>
                    </a:p>
                  </a:txBody>
                </a:tc>
              </a:tr>
              <a:tr h="370840"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Высокая размерность (768–1024)</a:t>
                      </a:r>
                      <a:endParaRPr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Модели с размерностью 384, квантование, PCA</a:t>
                      </a:r>
                      <a:endParaRPr dirty="0" lang="ru-RU"/>
                    </a:p>
                  </a:txBody>
                </a:tc>
              </a:tr>
              <a:tr h="370840"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Слабая адаптация к </a:t>
                      </a:r>
                      <a:r>
                        <a:rPr b="0" dirty="0" sz="1800" i="0" kern="1200" lang="ru-RU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ПрО</a:t>
                      </a:r>
                      <a:endParaRPr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ru-RU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Дообучение</a:t>
                      </a:r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на доменных данных (</a:t>
                      </a:r>
                      <a:r>
                        <a:rPr b="0" dirty="0" sz="1800" i="0" kern="1200" lang="ru-RU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SimCSE</a:t>
                      </a:r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E5)</a:t>
                      </a:r>
                      <a:endParaRPr dirty="0" lang="ru-RU"/>
                    </a:p>
                  </a:txBody>
                </a:tc>
              </a:tr>
              <a:tr h="370840"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Большие документы</a:t>
                      </a:r>
                      <a:endParaRPr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Разбиение с учётом границ, </a:t>
                      </a:r>
                      <a:r>
                        <a:rPr b="0" dirty="0" sz="1800" i="0" kern="1200" lang="ru-RU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Longformer</a:t>
                      </a:r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b="0" dirty="0" sz="1800" i="0" kern="1200" lang="ru-RU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BigBird</a:t>
                      </a:r>
                      <a:endParaRPr dirty="0" lang="ru-RU"/>
                    </a:p>
                  </a:txBody>
                </a:tc>
              </a:tr>
              <a:tr h="370840"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Стоимость </a:t>
                      </a:r>
                      <a:r>
                        <a:rPr b="0" dirty="0" sz="18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API</a:t>
                      </a:r>
                      <a:endParaRPr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ru-RU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Кеширование</a:t>
                      </a:r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b="0" dirty="0" sz="1800" i="0" kern="1200" lang="ru-RU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эмбеддингов</a:t>
                      </a:r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локальные модели</a:t>
                      </a:r>
                      <a:endParaRPr dirty="0" lang="ru-RU"/>
                    </a:p>
                  </a:txBody>
                </a:tc>
              </a:tr>
            </a:tbl>
          </a:graphicData>
        </a:graphic>
      </p:graphicFrame>
      <p:sp>
        <p:nvSpPr>
          <p:cNvPr id="1048649" name="TextBox 4"/>
          <p:cNvSpPr txBox="1"/>
          <p:nvPr/>
        </p:nvSpPr>
        <p:spPr>
          <a:xfrm>
            <a:off x="539552" y="5373216"/>
            <a:ext cx="7631480" cy="624840"/>
          </a:xfrm>
          <a:prstGeom prst="rect"/>
          <a:noFill/>
        </p:spPr>
        <p:txBody>
          <a:bodyPr rtlCol="0" wrap="none">
            <a:spAutoFit/>
          </a:bodyPr>
          <a:p>
            <a:r>
              <a:rPr b="1" dirty="0" lang="ru-RU"/>
              <a:t>Инструменты:</a:t>
            </a:r>
            <a:r>
              <a:rPr dirty="0" lang="ru-RU"/>
              <a:t> </a:t>
            </a:r>
            <a:r>
              <a:rPr dirty="0" lang="en-US" err="1"/>
              <a:t>sklearn</a:t>
            </a:r>
            <a:r>
              <a:rPr dirty="0" lang="en-US"/>
              <a:t>, sentence-transformers, E5, GTE, </a:t>
            </a:r>
            <a:r>
              <a:rPr dirty="0" lang="en-US" err="1"/>
              <a:t>ColBERT</a:t>
            </a:r>
            <a:r>
              <a:rPr dirty="0" lang="en-US"/>
              <a:t>, CLIP, </a:t>
            </a:r>
            <a:endParaRPr dirty="0" lang="ru-RU" smtClean="0"/>
          </a:p>
          <a:p>
            <a:r>
              <a:rPr dirty="0" lang="en-US" err="1" smtClean="0"/>
              <a:t>ImageBind</a:t>
            </a:r>
            <a:r>
              <a:rPr dirty="0" lang="en-US"/>
              <a:t>, </a:t>
            </a:r>
            <a:r>
              <a:rPr dirty="0" lang="en-US" err="1"/>
              <a:t>SymPy</a:t>
            </a:r>
            <a:r>
              <a:rPr dirty="0" lang="en-US"/>
              <a:t>, FAISS, </a:t>
            </a:r>
            <a:r>
              <a:rPr dirty="0" lang="en-US" err="1"/>
              <a:t>Qdrant</a:t>
            </a:r>
            <a:r>
              <a:rPr dirty="0" lang="en-US"/>
              <a:t>, </a:t>
            </a:r>
            <a:r>
              <a:rPr dirty="0" lang="en-US" err="1"/>
              <a:t>Milvus</a:t>
            </a:r>
            <a:r>
              <a:rPr dirty="0" lang="en-US"/>
              <a:t>, </a:t>
            </a:r>
            <a:r>
              <a:rPr dirty="0" lang="en-US" err="1"/>
              <a:t>Elasticsearch</a:t>
            </a:r>
            <a:r>
              <a:rPr dirty="0" lang="en-US"/>
              <a:t>.</a:t>
            </a:r>
            <a:endParaRPr dirty="0" lang="ru-RU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b="1" dirty="0" lang="ru-RU"/>
              <a:t>Метрики по каждому </a:t>
            </a:r>
            <a:r>
              <a:rPr b="1" dirty="0" lang="ru-RU" smtClean="0"/>
              <a:t>этапу</a:t>
            </a:r>
            <a:endParaRPr dirty="0" lang="ru-RU"/>
          </a:p>
        </p:txBody>
      </p:sp>
      <p:graphicFrame>
        <p:nvGraphicFramePr>
          <p:cNvPr id="4194319" name="Содержимое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119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6568"/>
                <a:gridCol w="6203032"/>
              </a:tblGrid>
              <a:tr h="370840"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Этап</a:t>
                      </a:r>
                      <a:endParaRPr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Метрики</a:t>
                      </a:r>
                      <a:endParaRPr dirty="0" lang="ru-RU"/>
                    </a:p>
                  </a:txBody>
                </a:tc>
              </a:tr>
              <a:tr h="370840"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Очистка</a:t>
                      </a:r>
                      <a:endParaRPr b="0"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CER, WER, Precision, Recall, F1; </a:t>
                      </a:r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сохранность чисел, единиц, формул, таблиц; </a:t>
                      </a:r>
                      <a:r>
                        <a:rPr b="0" dirty="0" sz="1800" i="0" kern="1200" lang="en-US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BERTScore</a:t>
                      </a:r>
                      <a:endParaRPr dirty="0" lang="ru-RU"/>
                    </a:p>
                  </a:txBody>
                </a:tc>
              </a:tr>
              <a:tr h="370840"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Нормализация</a:t>
                      </a:r>
                      <a:endParaRPr b="0"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Точность </a:t>
                      </a:r>
                      <a:r>
                        <a:rPr b="0" dirty="0" sz="1800" i="0" kern="1200" lang="ru-RU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лемматизации</a:t>
                      </a:r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b="0" dirty="0" sz="1800" i="0" kern="1200" lang="ru-RU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стемминга</a:t>
                      </a:r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; корректность единиц; точность дат ISO 8601; правильность аббревиатур; сохранность чисел</a:t>
                      </a:r>
                      <a:endParaRPr dirty="0" lang="ru-RU"/>
                    </a:p>
                  </a:txBody>
                </a:tc>
              </a:tr>
              <a:tr h="370840">
                <a:tc>
                  <a:txBody>
                    <a:bodyPr/>
                    <a:p>
                      <a:r>
                        <a:rPr b="0" dirty="0" sz="1800" i="0" kern="1200" lang="ru-RU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Токенизация</a:t>
                      </a:r>
                      <a:endParaRPr b="0"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Сохранность терминов; корректность формул; объединение чисел с единицами; OOV </a:t>
                      </a:r>
                      <a:r>
                        <a:rPr b="0" dirty="0" sz="1800" i="0" kern="1200" lang="ru-RU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rate</a:t>
                      </a:r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; корректность аббревиатур</a:t>
                      </a:r>
                      <a:endParaRPr dirty="0" lang="ru-RU"/>
                    </a:p>
                  </a:txBody>
                </a:tc>
              </a:tr>
              <a:tr h="370840"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Аугментация</a:t>
                      </a:r>
                      <a:endParaRPr b="0"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Семантическая близость; сохранность чисел/формул/терминов; разнообразие; </a:t>
                      </a:r>
                      <a:r>
                        <a:rPr b="0" dirty="0" sz="1800" i="0" kern="1200" lang="ru-RU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валидность</a:t>
                      </a:r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; Δ качества модели</a:t>
                      </a:r>
                      <a:endParaRPr dirty="0" lang="ru-RU"/>
                    </a:p>
                  </a:txBody>
                </a:tc>
              </a:tr>
              <a:tr h="370840"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Векторизация</a:t>
                      </a:r>
                      <a:endParaRPr b="0"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Hit Rate@10; MRR; NDCG@10; BEIR; MTEB; </a:t>
                      </a:r>
                      <a:r>
                        <a:rPr b="0" dirty="0" sz="1800" i="0" kern="1200" lang="en-US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RuMTEB</a:t>
                      </a:r>
                      <a:r>
                        <a:rPr b="0" dirty="0" sz="18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; </a:t>
                      </a:r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косинусное сходство</a:t>
                      </a:r>
                      <a:endParaRPr dirty="0" lang="ru-RU"/>
                    </a:p>
                  </a:txBody>
                </a:tc>
              </a:tr>
            </a:tbl>
          </a:graphicData>
        </a:graphic>
      </p:graphicFrame>
      <p:sp>
        <p:nvSpPr>
          <p:cNvPr id="1048651" name="TextBox 4"/>
          <p:cNvSpPr txBox="1"/>
          <p:nvPr/>
        </p:nvSpPr>
        <p:spPr>
          <a:xfrm>
            <a:off x="539552" y="6021288"/>
            <a:ext cx="8014216" cy="358140"/>
          </a:xfrm>
          <a:prstGeom prst="rect"/>
          <a:noFill/>
        </p:spPr>
        <p:txBody>
          <a:bodyPr rtlCol="0" wrap="none">
            <a:spAutoFit/>
          </a:bodyPr>
          <a:p>
            <a:r>
              <a:rPr b="1" dirty="0" lang="ru-RU"/>
              <a:t>Мониторинг изменений:</a:t>
            </a:r>
            <a:r>
              <a:rPr dirty="0" lang="ru-RU"/>
              <a:t> PSI (категориальные), CSI (числовые), KS-тест.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b="1" dirty="0" lang="ru-RU"/>
              <a:t>Эволюция методов </a:t>
            </a:r>
            <a:r>
              <a:rPr b="1" dirty="0" lang="ru-RU" smtClean="0"/>
              <a:t>оценки</a:t>
            </a:r>
            <a:endParaRPr dirty="0" lang="ru-RU"/>
          </a:p>
        </p:txBody>
      </p:sp>
      <p:graphicFrame>
        <p:nvGraphicFramePr>
          <p:cNvPr id="4194320" name="Содержимое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2552"/>
                <a:gridCol w="6347048"/>
              </a:tblGrid>
              <a:tr h="370840"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Период</a:t>
                      </a:r>
                      <a:endParaRPr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Подход</a:t>
                      </a:r>
                      <a:endParaRPr dirty="0" lang="ru-RU"/>
                    </a:p>
                  </a:txBody>
                </a:tc>
              </a:tr>
              <a:tr h="370840"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1990–2000</a:t>
                      </a:r>
                      <a:endParaRPr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Ручная проверка, WER, CER, визуальный контроль</a:t>
                      </a:r>
                      <a:endParaRPr dirty="0" lang="ru-RU"/>
                    </a:p>
                  </a:txBody>
                </a:tc>
              </a:tr>
              <a:tr h="370840"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2005–2015</a:t>
                      </a:r>
                      <a:endParaRPr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Автоматические метрики: BLEU, ROUGE, METEOR</a:t>
                      </a:r>
                      <a:endParaRPr dirty="0" lang="ru-RU"/>
                    </a:p>
                  </a:txBody>
                </a:tc>
              </a:tr>
              <a:tr h="370840"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2015–2020</a:t>
                      </a:r>
                      <a:endParaRPr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Комплексные </a:t>
                      </a:r>
                      <a:r>
                        <a:rPr b="0" dirty="0" sz="1800" i="0" kern="1200" lang="ru-RU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бенчмарки</a:t>
                      </a:r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b="0" dirty="0" sz="18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GLUE, </a:t>
                      </a:r>
                      <a:r>
                        <a:rPr b="0" dirty="0" sz="1800" i="0" kern="1200" lang="en-US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SuperGLUE</a:t>
                      </a:r>
                      <a:r>
                        <a:rPr b="0" dirty="0" sz="18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b="0" dirty="0" sz="1800" i="0" kern="1200" lang="en-US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SQuAD</a:t>
                      </a:r>
                      <a:endParaRPr dirty="0" lang="ru-RU"/>
                    </a:p>
                  </a:txBody>
                </a:tc>
              </a:tr>
              <a:tr h="370840"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2020–2024</a:t>
                      </a:r>
                      <a:endParaRPr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MTEB, BEIR, </a:t>
                      </a:r>
                      <a:r>
                        <a:rPr b="0" dirty="0" sz="1800" i="0" kern="1200" lang="ru-RU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RuMTEB</a:t>
                      </a:r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для </a:t>
                      </a:r>
                      <a:r>
                        <a:rPr b="0" dirty="0" sz="1800" i="0" kern="1200" lang="ru-RU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эмбеддингов</a:t>
                      </a:r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и поиска</a:t>
                      </a:r>
                      <a:endParaRPr dirty="0" lang="ru-RU"/>
                    </a:p>
                  </a:txBody>
                </a:tc>
              </a:tr>
              <a:tr h="370840"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2024–наст.</a:t>
                      </a:r>
                      <a:endParaRPr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Гибрид: традиционные метрики + </a:t>
                      </a:r>
                      <a:r>
                        <a:rPr b="0" dirty="0" sz="18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LLM-as-a-judge + </a:t>
                      </a:r>
                      <a:r>
                        <a:rPr b="0" dirty="0" sz="1800" i="0" kern="1200" lang="en-US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BERTScore</a:t>
                      </a:r>
                      <a:endParaRPr dirty="0" lang="ru-RU"/>
                    </a:p>
                  </a:txBody>
                </a:tc>
              </a:tr>
              <a:tr h="370840"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Перспектива</a:t>
                      </a:r>
                      <a:endParaRPr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ru-RU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Мультимодальная</a:t>
                      </a:r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оценка (GPT-4o, </a:t>
                      </a:r>
                      <a:r>
                        <a:rPr b="0" dirty="0" sz="1800" i="0" kern="1200" lang="ru-RU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Claude</a:t>
                      </a:r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3.5), адаптивные пороги</a:t>
                      </a:r>
                      <a:endParaRPr dirty="0" lang="ru-RU"/>
                    </a:p>
                  </a:txBody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b="1" dirty="0" lang="ru-RU"/>
              <a:t>Алгоритм оценки </a:t>
            </a:r>
            <a:r>
              <a:rPr b="1" dirty="0" lang="ru-RU" smtClean="0"/>
              <a:t>качества</a:t>
            </a:r>
            <a:endParaRPr dirty="0" lang="ru-RU"/>
          </a:p>
        </p:txBody>
      </p:sp>
      <p:sp>
        <p:nvSpPr>
          <p:cNvPr id="1048654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65625" lnSpcReduction="20000"/>
          </a:bodyPr>
          <a:p>
            <a:r>
              <a:rPr b="1" dirty="0" lang="ru-RU"/>
              <a:t>Подготовка эталонных данных:</a:t>
            </a:r>
            <a:r>
              <a:rPr dirty="0" lang="ru-RU"/>
              <a:t> разметка чисел, формул, единиц, таблиц.</a:t>
            </a:r>
          </a:p>
          <a:p>
            <a:r>
              <a:rPr b="1" dirty="0" lang="ru-RU"/>
              <a:t>Оценка очистки:</a:t>
            </a:r>
            <a:r>
              <a:rPr dirty="0" lang="ru-RU"/>
              <a:t> WER, CER, </a:t>
            </a:r>
            <a:r>
              <a:rPr dirty="0" lang="ru-RU" err="1"/>
              <a:t>Precision</a:t>
            </a:r>
            <a:r>
              <a:rPr dirty="0" lang="ru-RU"/>
              <a:t>, </a:t>
            </a:r>
            <a:r>
              <a:rPr dirty="0" lang="ru-RU" err="1"/>
              <a:t>Recall</a:t>
            </a:r>
            <a:r>
              <a:rPr dirty="0" lang="ru-RU"/>
              <a:t>, F1, сохранность, </a:t>
            </a:r>
            <a:r>
              <a:rPr dirty="0" lang="ru-RU" err="1"/>
              <a:t>BERTScore</a:t>
            </a:r>
            <a:r>
              <a:rPr dirty="0" lang="ru-RU"/>
              <a:t>, </a:t>
            </a:r>
            <a:r>
              <a:rPr dirty="0" lang="ru-RU" err="1"/>
              <a:t>LLM-as-a-judge</a:t>
            </a:r>
            <a:r>
              <a:rPr dirty="0" lang="ru-RU"/>
              <a:t>.</a:t>
            </a:r>
          </a:p>
          <a:p>
            <a:r>
              <a:rPr b="1" dirty="0" lang="ru-RU"/>
              <a:t>Оценка нормализации:</a:t>
            </a:r>
            <a:r>
              <a:rPr dirty="0" lang="ru-RU"/>
              <a:t> точность </a:t>
            </a:r>
            <a:r>
              <a:rPr dirty="0" lang="ru-RU" err="1"/>
              <a:t>лемматизации</a:t>
            </a:r>
            <a:r>
              <a:rPr dirty="0" lang="ru-RU"/>
              <a:t>/</a:t>
            </a:r>
            <a:r>
              <a:rPr dirty="0" lang="ru-RU" err="1"/>
              <a:t>стемминга</a:t>
            </a:r>
            <a:r>
              <a:rPr dirty="0" lang="ru-RU"/>
              <a:t>, корректность единиц и дат, сохранность чисел.</a:t>
            </a:r>
          </a:p>
          <a:p>
            <a:r>
              <a:rPr b="1" dirty="0" lang="ru-RU"/>
              <a:t>Оценка </a:t>
            </a:r>
            <a:r>
              <a:rPr b="1" dirty="0" lang="ru-RU" err="1"/>
              <a:t>токенизации</a:t>
            </a:r>
            <a:r>
              <a:rPr b="1" dirty="0" lang="ru-RU"/>
              <a:t>:</a:t>
            </a:r>
            <a:r>
              <a:rPr dirty="0" lang="ru-RU"/>
              <a:t> сохранность терминов, формул, чисел с единицами, OOV </a:t>
            </a:r>
            <a:r>
              <a:rPr dirty="0" lang="ru-RU" err="1"/>
              <a:t>rate</a:t>
            </a:r>
            <a:r>
              <a:rPr dirty="0" lang="ru-RU"/>
              <a:t>.</a:t>
            </a:r>
          </a:p>
          <a:p>
            <a:r>
              <a:rPr b="1" dirty="0" lang="ru-RU"/>
              <a:t>Оценка аугментации:</a:t>
            </a:r>
            <a:r>
              <a:rPr dirty="0" lang="ru-RU"/>
              <a:t> семантическая близость, сохранность элементов, разнообразие, </a:t>
            </a:r>
            <a:r>
              <a:rPr dirty="0" lang="ru-RU" err="1"/>
              <a:t>валидность</a:t>
            </a:r>
            <a:r>
              <a:rPr dirty="0" lang="ru-RU"/>
              <a:t>, Δ качества.</a:t>
            </a:r>
          </a:p>
          <a:p>
            <a:r>
              <a:rPr b="1" dirty="0" lang="ru-RU"/>
              <a:t>Оценка векторизации:</a:t>
            </a:r>
            <a:r>
              <a:rPr dirty="0" lang="ru-RU"/>
              <a:t> </a:t>
            </a:r>
            <a:r>
              <a:rPr dirty="0" lang="ru-RU" err="1"/>
              <a:t>Hit</a:t>
            </a:r>
            <a:r>
              <a:rPr dirty="0" lang="ru-RU"/>
              <a:t> Rate@10, MRR, NDCG@10, косинусная близость, MTEB/BEIR/</a:t>
            </a:r>
            <a:r>
              <a:rPr dirty="0" lang="ru-RU" err="1"/>
              <a:t>RuMTEB</a:t>
            </a:r>
            <a:r>
              <a:rPr dirty="0" lang="ru-RU"/>
              <a:t>.</a:t>
            </a:r>
          </a:p>
          <a:p>
            <a:r>
              <a:rPr b="1" dirty="0" lang="ru-RU"/>
              <a:t>Мониторинг изменений:</a:t>
            </a:r>
            <a:r>
              <a:rPr dirty="0" lang="ru-RU"/>
              <a:t> PSI, CSI, KS-тест.</a:t>
            </a:r>
          </a:p>
          <a:p>
            <a:r>
              <a:rPr b="1" dirty="0" lang="ru-RU"/>
              <a:t>Агрегация и визуализация:</a:t>
            </a:r>
            <a:r>
              <a:rPr dirty="0" lang="ru-RU"/>
              <a:t> </a:t>
            </a:r>
            <a:r>
              <a:rPr dirty="0" lang="ru-RU" err="1"/>
              <a:t>дашборды</a:t>
            </a:r>
            <a:r>
              <a:rPr dirty="0" lang="ru-RU"/>
              <a:t>, отчёты, автоматические оповещения.</a:t>
            </a:r>
          </a:p>
          <a:p>
            <a:endParaRPr dirty="0" lang="ru-RU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5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b="1" dirty="0" lang="ru-RU"/>
              <a:t>Полный </a:t>
            </a:r>
            <a:r>
              <a:rPr b="1" dirty="0" lang="ru-RU" err="1" smtClean="0"/>
              <a:t>пайплайн</a:t>
            </a:r>
            <a:endParaRPr dirty="0" lang="ru-RU"/>
          </a:p>
        </p:txBody>
      </p:sp>
      <p:graphicFrame>
        <p:nvGraphicFramePr>
          <p:cNvPr id="4194321" name="Содержимое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350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4560"/>
                <a:gridCol w="3531840"/>
                <a:gridCol w="2743200"/>
              </a:tblGrid>
              <a:tr h="370840"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Этап</a:t>
                      </a:r>
                      <a:endParaRPr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Действия</a:t>
                      </a:r>
                      <a:endParaRPr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Инструменты</a:t>
                      </a:r>
                      <a:endParaRPr dirty="0" lang="ru-RU"/>
                    </a:p>
                  </a:txBody>
                </a:tc>
              </a:tr>
              <a:tr h="370840"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Извлечение</a:t>
                      </a:r>
                      <a:endParaRPr b="0"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PDF → </a:t>
                      </a:r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текст (гибридный </a:t>
                      </a:r>
                      <a:r>
                        <a:rPr b="0" dirty="0" sz="18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OCR)</a:t>
                      </a:r>
                      <a:endParaRPr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en-US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PyMuPDF</a:t>
                      </a:r>
                      <a:r>
                        <a:rPr b="0" dirty="0" sz="18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b="0" dirty="0" sz="1800" i="0" kern="1200" lang="en-US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Tesseract</a:t>
                      </a:r>
                      <a:endParaRPr dirty="0" lang="ru-RU"/>
                    </a:p>
                  </a:txBody>
                </a:tc>
              </a:tr>
              <a:tr h="370840"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Очистка</a:t>
                      </a:r>
                      <a:endParaRPr b="0"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Шум, </a:t>
                      </a:r>
                      <a:r>
                        <a:rPr b="0" dirty="0" sz="18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OCR-</a:t>
                      </a:r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артефакты, </a:t>
                      </a:r>
                      <a:r>
                        <a:rPr b="0" dirty="0" sz="18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PII</a:t>
                      </a:r>
                      <a:endParaRPr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re, </a:t>
                      </a:r>
                      <a:r>
                        <a:rPr b="0" dirty="0" sz="1800" i="0" kern="1200" lang="en-US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spaCy</a:t>
                      </a:r>
                      <a:r>
                        <a:rPr b="0" dirty="0" sz="18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Presidio</a:t>
                      </a:r>
                      <a:endParaRPr dirty="0" lang="ru-RU"/>
                    </a:p>
                  </a:txBody>
                </a:tc>
              </a:tr>
              <a:tr h="370840"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Нормализация</a:t>
                      </a:r>
                      <a:endParaRPr b="0"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ru-RU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Лемматизация</a:t>
                      </a:r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единицы, даты</a:t>
                      </a:r>
                      <a:endParaRPr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pymorphy2, Pint, </a:t>
                      </a:r>
                      <a:r>
                        <a:rPr b="0" dirty="0" sz="1800" i="0" kern="1200" lang="en-US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dateutil</a:t>
                      </a:r>
                      <a:endParaRPr dirty="0" lang="ru-RU"/>
                    </a:p>
                  </a:txBody>
                </a:tc>
              </a:tr>
              <a:tr h="370840">
                <a:tc>
                  <a:txBody>
                    <a:bodyPr/>
                    <a:p>
                      <a:r>
                        <a:rPr b="0" dirty="0" sz="1800" i="0" kern="1200" lang="ru-RU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Токенизация</a:t>
                      </a:r>
                      <a:endParaRPr b="0"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ru-RU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Субсловная</a:t>
                      </a:r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+ защита формул</a:t>
                      </a:r>
                      <a:endParaRPr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en-US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SentencePiece</a:t>
                      </a:r>
                      <a:r>
                        <a:rPr b="0" dirty="0" sz="18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b="0" dirty="0" sz="1800" i="0" kern="1200" lang="en-US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SymPy</a:t>
                      </a:r>
                      <a:endParaRPr dirty="0" lang="ru-RU"/>
                    </a:p>
                  </a:txBody>
                </a:tc>
              </a:tr>
              <a:tr h="370840"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Векторизация</a:t>
                      </a:r>
                      <a:endParaRPr b="0"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E5-base (384) + TF-IDF</a:t>
                      </a:r>
                      <a:endParaRPr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sentence-transformers, </a:t>
                      </a:r>
                      <a:r>
                        <a:rPr b="0" dirty="0" sz="1800" i="0" kern="1200" lang="en-US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sklearn</a:t>
                      </a:r>
                      <a:endParaRPr dirty="0" lang="ru-RU"/>
                    </a:p>
                  </a:txBody>
                </a:tc>
              </a:tr>
              <a:tr h="370840"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Индексация</a:t>
                      </a:r>
                      <a:endParaRPr b="0"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en-US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Qdrant</a:t>
                      </a:r>
                      <a:r>
                        <a:rPr b="0" dirty="0" sz="18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+ </a:t>
                      </a:r>
                      <a:r>
                        <a:rPr b="0" dirty="0" sz="1800" i="0" kern="1200" lang="en-US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Elasticsearch</a:t>
                      </a:r>
                      <a:endParaRPr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en-US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qdrant</a:t>
                      </a:r>
                      <a:r>
                        <a:rPr b="0" dirty="0" sz="18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-client, </a:t>
                      </a:r>
                      <a:r>
                        <a:rPr b="0" dirty="0" sz="1800" i="0" kern="1200" lang="en-US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elasticsearch-py</a:t>
                      </a:r>
                      <a:endParaRPr dirty="0" lang="ru-RU"/>
                    </a:p>
                  </a:txBody>
                </a:tc>
              </a:tr>
              <a:tr h="370840">
                <a:tc>
                  <a:txBody>
                    <a:bodyPr/>
                    <a:p>
                      <a:r>
                        <a:rPr b="0" dirty="0" sz="1800" i="0" kern="1200" lang="ru-RU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Оценка</a:t>
                      </a:r>
                      <a:endParaRPr b="0"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CER, WER, Hit Rate@10</a:t>
                      </a:r>
                      <a:endParaRPr dirty="0" lang="ru-RU"/>
                    </a:p>
                  </a:txBody>
                </a:tc>
                <a:tc>
                  <a:txBody>
                    <a:bodyPr/>
                    <a:p>
                      <a:r>
                        <a:rPr b="0" dirty="0" sz="1800" i="0" kern="1200" lang="en-US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jiwer</a:t>
                      </a:r>
                      <a:r>
                        <a:rPr b="0" dirty="0" sz="1800" i="0" kern="1200" lang="en-US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b="0" dirty="0" sz="1800" i="0" kern="1200" lang="en-US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sklearn</a:t>
                      </a:r>
                      <a:endParaRPr dirty="0" lang="ru-RU"/>
                    </a:p>
                  </a:txBody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6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b="1" dirty="0" lang="ru-RU"/>
              <a:t>Ключевые принципы </a:t>
            </a:r>
            <a:r>
              <a:rPr b="1" dirty="0" lang="ru-RU" smtClean="0"/>
              <a:t>предобработки</a:t>
            </a:r>
            <a:endParaRPr dirty="0" lang="ru-RU"/>
          </a:p>
        </p:txBody>
      </p:sp>
      <p:sp>
        <p:nvSpPr>
          <p:cNvPr id="1048657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66875" lnSpcReduction="20000"/>
          </a:bodyPr>
          <a:p>
            <a:r>
              <a:rPr b="1" dirty="0" lang="ru-RU"/>
              <a:t>Системность:</a:t>
            </a:r>
            <a:r>
              <a:rPr dirty="0" lang="ru-RU"/>
              <a:t> каждый этап влияет на качество всей системы.</a:t>
            </a:r>
          </a:p>
          <a:p>
            <a:r>
              <a:rPr b="1" dirty="0" lang="ru-RU" err="1"/>
              <a:t>Гибридность</a:t>
            </a:r>
            <a:r>
              <a:rPr b="1" dirty="0" lang="ru-RU"/>
              <a:t>:</a:t>
            </a:r>
            <a:r>
              <a:rPr dirty="0" lang="ru-RU"/>
              <a:t> комбинация правил, ML и БЯМ даёт лучший результат.</a:t>
            </a:r>
          </a:p>
          <a:p>
            <a:r>
              <a:rPr b="1" dirty="0" lang="ru-RU"/>
              <a:t>Сохранение семантики:</a:t>
            </a:r>
            <a:r>
              <a:rPr dirty="0" lang="ru-RU"/>
              <a:t> формулы, числа, единицы, термины — неприкосновенны.</a:t>
            </a:r>
          </a:p>
          <a:p>
            <a:r>
              <a:rPr b="1" dirty="0" lang="ru-RU"/>
              <a:t>Достаточность:</a:t>
            </a:r>
            <a:r>
              <a:rPr dirty="0" lang="ru-RU"/>
              <a:t> выбирать минимально сложный инструмент, дающий требуемое качество.</a:t>
            </a:r>
          </a:p>
          <a:p>
            <a:r>
              <a:rPr b="1" dirty="0" lang="ru-RU"/>
              <a:t>Оценка качества:</a:t>
            </a:r>
            <a:r>
              <a:rPr dirty="0" lang="ru-RU"/>
              <a:t> на каждом этапе, с автоматическими метриками и </a:t>
            </a:r>
            <a:r>
              <a:rPr dirty="0" lang="ru-RU" err="1"/>
              <a:t>LLM-as-a-judge</a:t>
            </a:r>
            <a:r>
              <a:rPr dirty="0" lang="ru-RU"/>
              <a:t>.</a:t>
            </a:r>
          </a:p>
          <a:p>
            <a:r>
              <a:rPr b="1" dirty="0" lang="ru-RU"/>
              <a:t>Мониторинг:</a:t>
            </a:r>
            <a:r>
              <a:rPr dirty="0" lang="ru-RU"/>
              <a:t> отслеживание </a:t>
            </a:r>
            <a:r>
              <a:rPr dirty="0" lang="ru-RU" err="1"/>
              <a:t>дрифта</a:t>
            </a:r>
            <a:r>
              <a:rPr dirty="0" lang="ru-RU"/>
              <a:t> данных и деградации качества.</a:t>
            </a:r>
          </a:p>
          <a:p>
            <a:r>
              <a:rPr b="1" dirty="0" lang="ru-RU" err="1"/>
              <a:t>Масштабируемость</a:t>
            </a:r>
            <a:r>
              <a:rPr b="1" dirty="0" lang="ru-RU"/>
              <a:t>:</a:t>
            </a:r>
            <a:r>
              <a:rPr dirty="0" lang="ru-RU"/>
              <a:t> распределённая обработка (</a:t>
            </a:r>
            <a:r>
              <a:rPr dirty="0" lang="ru-RU" err="1"/>
              <a:t>Spark</a:t>
            </a:r>
            <a:r>
              <a:rPr dirty="0" lang="ru-RU"/>
              <a:t>, </a:t>
            </a:r>
            <a:r>
              <a:rPr dirty="0" lang="ru-RU" err="1"/>
              <a:t>Airflow</a:t>
            </a:r>
            <a:r>
              <a:rPr dirty="0" lang="ru-RU"/>
              <a:t>).</a:t>
            </a:r>
          </a:p>
          <a:p>
            <a:r>
              <a:rPr b="1" dirty="0" lang="ru-RU"/>
              <a:t>Безопасность:</a:t>
            </a:r>
            <a:r>
              <a:rPr dirty="0" lang="ru-RU"/>
              <a:t> фильтрация PII, соответствие GDPR и ФЗ-152.</a:t>
            </a:r>
          </a:p>
          <a:p>
            <a:endParaRPr dirty="0" lang="ru-RU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8" name="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"/>
              <a:t>З</a:t>
            </a:r>
            <a:r>
              <a:rPr lang="ru"/>
              <a:t>а</a:t>
            </a:r>
            <a:r>
              <a:rPr lang="ru"/>
              <a:t>д</a:t>
            </a:r>
            <a:r>
              <a:rPr lang="ru"/>
              <a:t>а</a:t>
            </a:r>
            <a:r>
              <a:rPr lang="ru"/>
              <a:t>н</a:t>
            </a:r>
            <a:r>
              <a:rPr lang="ru"/>
              <a:t>и</a:t>
            </a:r>
            <a:r>
              <a:rPr lang="ru"/>
              <a:t>е</a:t>
            </a:r>
            <a:r>
              <a:rPr altLang="ru" lang="en-US"/>
              <a:t> </a:t>
            </a:r>
            <a:r>
              <a:rPr altLang="ru" lang="en-US"/>
              <a:t>2</a:t>
            </a:r>
            <a:endParaRPr lang="ru-RU"/>
          </a:p>
        </p:txBody>
      </p:sp>
      <p:sp>
        <p:nvSpPr>
          <p:cNvPr id="1048659" name=""/>
          <p:cNvSpPr>
            <a:spLocks noGrp="1"/>
          </p:cNvSpPr>
          <p:nvPr>
            <p:ph idx="1"/>
          </p:nvPr>
        </p:nvSpPr>
        <p:spPr/>
        <p:txBody>
          <a:bodyPr>
            <a:normAutofit fontScale="75000" lnSpcReduction="10000"/>
          </a:bodyPr>
          <a:p>
            <a:r>
              <a:rPr lang="ru"/>
              <a:t>п</a:t>
            </a:r>
            <a:r>
              <a:rPr lang="ru"/>
              <a:t>р</a:t>
            </a:r>
            <a:r>
              <a:rPr lang="ru"/>
              <a:t>о</a:t>
            </a:r>
            <a:r>
              <a:rPr lang="ru"/>
              <a:t>в</a:t>
            </a:r>
            <a:r>
              <a:rPr lang="ru"/>
              <a:t>е</a:t>
            </a:r>
            <a:r>
              <a:rPr lang="ru"/>
              <a:t>с</a:t>
            </a:r>
            <a:r>
              <a:rPr lang="ru"/>
              <a:t>т</a:t>
            </a:r>
            <a:r>
              <a:rPr lang="ru"/>
              <a:t>и</a:t>
            </a:r>
            <a:r>
              <a:rPr altLang="ru" lang="en-US"/>
              <a:t> </a:t>
            </a:r>
            <a:r>
              <a:rPr altLang="ru" lang="ru"/>
              <a:t>п</a:t>
            </a:r>
            <a:r>
              <a:rPr altLang="ru" lang="ru"/>
              <a:t>о</a:t>
            </a:r>
            <a:r>
              <a:rPr altLang="ru" lang="ru"/>
              <a:t>л</a:t>
            </a:r>
            <a:r>
              <a:rPr altLang="ru" lang="ru"/>
              <a:t>н</a:t>
            </a:r>
            <a:r>
              <a:rPr altLang="ru" lang="ru"/>
              <a:t>ы</a:t>
            </a:r>
            <a:r>
              <a:rPr altLang="ru" lang="ru"/>
              <a:t>й</a:t>
            </a:r>
            <a:r>
              <a:rPr altLang="ru" lang="en-US"/>
              <a:t> </a:t>
            </a:r>
            <a:r>
              <a:rPr altLang="ru" lang="ru"/>
              <a:t>ц</a:t>
            </a:r>
            <a:r>
              <a:rPr altLang="ru" lang="ru"/>
              <a:t>и</a:t>
            </a:r>
            <a:r>
              <a:rPr altLang="ru" lang="ru"/>
              <a:t>к</a:t>
            </a:r>
            <a:r>
              <a:rPr altLang="ru" lang="ru"/>
              <a:t>л</a:t>
            </a:r>
            <a:r>
              <a:rPr altLang="ru" lang="en-US"/>
              <a:t> </a:t>
            </a:r>
            <a:r>
              <a:rPr altLang="ru" lang="ru"/>
              <a:t>п</a:t>
            </a:r>
            <a:r>
              <a:rPr altLang="ru" lang="ru"/>
              <a:t>р</a:t>
            </a:r>
            <a:r>
              <a:rPr altLang="ru" lang="ru"/>
              <a:t>е</a:t>
            </a:r>
            <a:r>
              <a:rPr altLang="ru" lang="ru"/>
              <a:t>д</a:t>
            </a:r>
            <a:r>
              <a:rPr altLang="ru" lang="ru"/>
              <a:t>о</a:t>
            </a:r>
            <a:r>
              <a:rPr altLang="ru" lang="ru"/>
              <a:t>б</a:t>
            </a:r>
            <a:r>
              <a:rPr altLang="ru" lang="ru"/>
              <a:t>р</a:t>
            </a:r>
            <a:r>
              <a:rPr altLang="ru" lang="ru"/>
              <a:t>а</a:t>
            </a:r>
            <a:r>
              <a:rPr altLang="ru" lang="ru"/>
              <a:t>б</a:t>
            </a:r>
            <a:r>
              <a:rPr altLang="ru" lang="ru"/>
              <a:t>о</a:t>
            </a:r>
            <a:r>
              <a:rPr altLang="ru" lang="ru"/>
              <a:t>т</a:t>
            </a:r>
            <a:r>
              <a:rPr altLang="ru" lang="ru"/>
              <a:t>к</a:t>
            </a:r>
            <a:r>
              <a:rPr altLang="ru" lang="ru"/>
              <a:t>и</a:t>
            </a:r>
            <a:endParaRPr lang="ru-RU"/>
          </a:p>
          <a:p>
            <a:r>
              <a:rPr altLang="ru" lang="ru"/>
              <a:t>С</a:t>
            </a:r>
            <a:r>
              <a:rPr altLang="ru" lang="ru"/>
              <a:t>р</a:t>
            </a:r>
            <a:r>
              <a:rPr altLang="ru" lang="ru"/>
              <a:t>а</a:t>
            </a:r>
            <a:r>
              <a:rPr altLang="ru" lang="ru"/>
              <a:t>в</a:t>
            </a:r>
            <a:r>
              <a:rPr altLang="ru" lang="ru"/>
              <a:t>н</a:t>
            </a:r>
            <a:r>
              <a:rPr altLang="ru" lang="ru"/>
              <a:t>и</a:t>
            </a:r>
            <a:r>
              <a:rPr altLang="ru" lang="ru"/>
              <a:t>т</a:t>
            </a:r>
            <a:r>
              <a:rPr altLang="ru" lang="ru"/>
              <a:t>ь</a:t>
            </a:r>
            <a:r>
              <a:rPr altLang="ru" lang="en-US"/>
              <a:t> </a:t>
            </a:r>
            <a:r>
              <a:rPr altLang="ru" lang="ru"/>
              <a:t>г</a:t>
            </a:r>
            <a:r>
              <a:rPr altLang="ru" lang="ru"/>
              <a:t>р</a:t>
            </a:r>
            <a:r>
              <a:rPr altLang="ru" lang="ru"/>
              <a:t>а</a:t>
            </a:r>
            <a:r>
              <a:rPr altLang="ru" lang="ru"/>
              <a:t>ф</a:t>
            </a:r>
            <a:r>
              <a:rPr altLang="ru" lang="en-US"/>
              <a:t> </a:t>
            </a:r>
            <a:r>
              <a:rPr altLang="ru" lang="ru"/>
              <a:t>п</a:t>
            </a:r>
            <a:r>
              <a:rPr altLang="ru" lang="ru"/>
              <a:t>о</a:t>
            </a:r>
            <a:r>
              <a:rPr altLang="ru" lang="ru"/>
              <a:t>л</a:t>
            </a:r>
            <a:r>
              <a:rPr altLang="ru" lang="ru"/>
              <a:t>у</a:t>
            </a:r>
            <a:r>
              <a:rPr altLang="ru" lang="ru"/>
              <a:t>ч</a:t>
            </a:r>
            <a:r>
              <a:rPr altLang="ru" lang="ru"/>
              <a:t>е</a:t>
            </a:r>
            <a:r>
              <a:rPr altLang="ru" lang="ru"/>
              <a:t>н</a:t>
            </a:r>
            <a:r>
              <a:rPr altLang="ru" lang="ru"/>
              <a:t>н</a:t>
            </a:r>
            <a:r>
              <a:rPr altLang="ru" lang="ru"/>
              <a:t>ы</a:t>
            </a:r>
            <a:r>
              <a:rPr altLang="ru" lang="ru"/>
              <a:t>й</a:t>
            </a:r>
            <a:r>
              <a:rPr altLang="ru" lang="en-US"/>
              <a:t> </a:t>
            </a:r>
            <a:r>
              <a:rPr altLang="ru" lang="ru"/>
              <a:t>б</a:t>
            </a:r>
            <a:r>
              <a:rPr altLang="ru" lang="ru"/>
              <a:t>е</a:t>
            </a:r>
            <a:r>
              <a:rPr altLang="ru" lang="ru"/>
              <a:t>з</a:t>
            </a:r>
            <a:r>
              <a:rPr altLang="ru" lang="en-US"/>
              <a:t> </a:t>
            </a:r>
            <a:r>
              <a:rPr altLang="ru" lang="ru"/>
              <a:t>п</a:t>
            </a:r>
            <a:r>
              <a:rPr altLang="ru" lang="ru"/>
              <a:t>р</a:t>
            </a:r>
            <a:r>
              <a:rPr altLang="ru" lang="ru"/>
              <a:t>е</a:t>
            </a:r>
            <a:r>
              <a:rPr altLang="ru" lang="ru"/>
              <a:t>д</a:t>
            </a:r>
            <a:r>
              <a:rPr altLang="ru" lang="ru"/>
              <a:t>о</a:t>
            </a:r>
            <a:r>
              <a:rPr altLang="ru" lang="ru"/>
              <a:t>б</a:t>
            </a:r>
            <a:r>
              <a:rPr altLang="ru" lang="ru"/>
              <a:t>р</a:t>
            </a:r>
            <a:r>
              <a:rPr altLang="ru" lang="ru"/>
              <a:t>а</a:t>
            </a:r>
            <a:r>
              <a:rPr altLang="ru" lang="ru"/>
              <a:t>б</a:t>
            </a:r>
            <a:r>
              <a:rPr altLang="ru" lang="ru"/>
              <a:t>о</a:t>
            </a:r>
            <a:r>
              <a:rPr altLang="ru" lang="ru"/>
              <a:t>т</a:t>
            </a:r>
            <a:r>
              <a:rPr altLang="ru" lang="ru"/>
              <a:t>к</a:t>
            </a:r>
            <a:r>
              <a:rPr altLang="ru" lang="ru"/>
              <a:t>и</a:t>
            </a:r>
            <a:r>
              <a:rPr altLang="ru" lang="en-US"/>
              <a:t> </a:t>
            </a:r>
            <a:r>
              <a:rPr altLang="ru" lang="ru"/>
              <a:t>с</a:t>
            </a:r>
            <a:r>
              <a:rPr altLang="ru" lang="en-US"/>
              <a:t> </a:t>
            </a:r>
            <a:r>
              <a:rPr altLang="ru" lang="ru"/>
              <a:t>г</a:t>
            </a:r>
            <a:r>
              <a:rPr altLang="ru" lang="ru"/>
              <a:t>р</a:t>
            </a:r>
            <a:r>
              <a:rPr altLang="ru" lang="ru"/>
              <a:t>а</a:t>
            </a:r>
            <a:r>
              <a:rPr altLang="ru" lang="ru"/>
              <a:t>ф</a:t>
            </a:r>
            <a:r>
              <a:rPr altLang="ru" lang="ru"/>
              <a:t>о</a:t>
            </a:r>
            <a:r>
              <a:rPr altLang="ru" lang="ru"/>
              <a:t>м</a:t>
            </a:r>
            <a:r>
              <a:rPr altLang="ru" lang="en-US"/>
              <a:t> </a:t>
            </a:r>
            <a:r>
              <a:rPr altLang="ru" lang="ru"/>
              <a:t>п</a:t>
            </a:r>
            <a:r>
              <a:rPr altLang="ru" lang="ru"/>
              <a:t>о</a:t>
            </a:r>
            <a:r>
              <a:rPr altLang="ru" lang="ru"/>
              <a:t>л</a:t>
            </a:r>
            <a:r>
              <a:rPr altLang="ru" lang="ru"/>
              <a:t>у</a:t>
            </a:r>
            <a:r>
              <a:rPr altLang="ru" lang="ru"/>
              <a:t>ч</a:t>
            </a:r>
            <a:r>
              <a:rPr altLang="ru" lang="ru"/>
              <a:t>е</a:t>
            </a:r>
            <a:r>
              <a:rPr altLang="ru" lang="ru"/>
              <a:t>н</a:t>
            </a:r>
            <a:r>
              <a:rPr altLang="ru" lang="ru"/>
              <a:t>н</a:t>
            </a:r>
            <a:r>
              <a:rPr altLang="ru" lang="ru"/>
              <a:t>ы</a:t>
            </a:r>
            <a:r>
              <a:rPr altLang="ru" lang="ru"/>
              <a:t>м</a:t>
            </a:r>
            <a:r>
              <a:rPr altLang="ru" lang="en-US"/>
              <a:t> </a:t>
            </a:r>
            <a:r>
              <a:rPr altLang="ru" lang="ru"/>
              <a:t>с</a:t>
            </a:r>
            <a:r>
              <a:rPr altLang="ru" lang="en-US"/>
              <a:t> </a:t>
            </a:r>
            <a:r>
              <a:rPr altLang="ru" lang="ru"/>
              <a:t>п</a:t>
            </a:r>
            <a:r>
              <a:rPr altLang="ru" lang="ru"/>
              <a:t>р</a:t>
            </a:r>
            <a:r>
              <a:rPr altLang="ru" lang="ru"/>
              <a:t>е</a:t>
            </a:r>
            <a:r>
              <a:rPr altLang="ru" lang="ru"/>
              <a:t>д</a:t>
            </a:r>
            <a:r>
              <a:rPr altLang="ru" lang="ru"/>
              <a:t>о</a:t>
            </a:r>
            <a:r>
              <a:rPr altLang="ru" lang="ru"/>
              <a:t>б</a:t>
            </a:r>
            <a:r>
              <a:rPr altLang="ru" lang="ru"/>
              <a:t>р</a:t>
            </a:r>
            <a:r>
              <a:rPr altLang="ru" lang="ru"/>
              <a:t>а</a:t>
            </a:r>
            <a:r>
              <a:rPr altLang="ru" lang="ru"/>
              <a:t>б</a:t>
            </a:r>
            <a:r>
              <a:rPr altLang="ru" lang="ru"/>
              <a:t>о</a:t>
            </a:r>
            <a:r>
              <a:rPr altLang="ru" lang="ru"/>
              <a:t>т</a:t>
            </a:r>
            <a:r>
              <a:rPr altLang="ru" lang="ru"/>
              <a:t>к</a:t>
            </a:r>
            <a:r>
              <a:rPr altLang="ru" lang="ru"/>
              <a:t>о</a:t>
            </a:r>
            <a:r>
              <a:rPr altLang="ru" lang="ru"/>
              <a:t>й</a:t>
            </a:r>
            <a:r>
              <a:rPr altLang="ru" lang="en-US"/>
              <a:t>:</a:t>
            </a:r>
            <a:endParaRPr lang="ru-RU"/>
          </a:p>
          <a:p>
            <a:pPr lvl="1"/>
            <a:r>
              <a:rPr lang="ru"/>
              <a:t>п</a:t>
            </a:r>
            <a:r>
              <a:rPr lang="ru"/>
              <a:t>о</a:t>
            </a:r>
            <a:r>
              <a:rPr lang="ru"/>
              <a:t>л</a:t>
            </a:r>
            <a:r>
              <a:rPr lang="ru"/>
              <a:t>н</a:t>
            </a:r>
            <a:r>
              <a:rPr lang="ru"/>
              <a:t>о</a:t>
            </a:r>
            <a:r>
              <a:rPr lang="ru"/>
              <a:t>т</a:t>
            </a:r>
            <a:r>
              <a:rPr lang="ru"/>
              <a:t>а</a:t>
            </a:r>
            <a:r>
              <a:rPr altLang="ru" lang="en-US"/>
              <a:t> </a:t>
            </a:r>
            <a:r>
              <a:rPr altLang="ru" lang="ru"/>
              <a:t>п</a:t>
            </a:r>
            <a:r>
              <a:rPr altLang="ru" lang="ru"/>
              <a:t>о</a:t>
            </a:r>
            <a:r>
              <a:rPr altLang="ru" lang="en-US"/>
              <a:t> </a:t>
            </a:r>
            <a:r>
              <a:rPr altLang="ru" lang="ru"/>
              <a:t>т</a:t>
            </a:r>
            <a:r>
              <a:rPr altLang="ru" lang="ru"/>
              <a:t>е</a:t>
            </a:r>
            <a:r>
              <a:rPr altLang="ru" lang="ru"/>
              <a:t>к</a:t>
            </a:r>
            <a:r>
              <a:rPr altLang="ru" lang="ru"/>
              <a:t>с</a:t>
            </a:r>
            <a:r>
              <a:rPr altLang="ru" lang="ru"/>
              <a:t>т</a:t>
            </a:r>
            <a:r>
              <a:rPr altLang="ru" lang="ru"/>
              <a:t>у</a:t>
            </a:r>
            <a:endParaRPr lang="ru-RU"/>
          </a:p>
          <a:p>
            <a:pPr lvl="1"/>
            <a:r>
              <a:rPr lang="ru"/>
              <a:t>н</a:t>
            </a:r>
            <a:r>
              <a:rPr lang="ru"/>
              <a:t>е</a:t>
            </a:r>
            <a:r>
              <a:rPr lang="ru"/>
              <a:t>п</a:t>
            </a:r>
            <a:r>
              <a:rPr lang="ru"/>
              <a:t>р</a:t>
            </a:r>
            <a:r>
              <a:rPr lang="ru"/>
              <a:t>о</a:t>
            </a:r>
            <a:r>
              <a:rPr lang="ru"/>
              <a:t>т</a:t>
            </a:r>
            <a:r>
              <a:rPr lang="ru"/>
              <a:t>и</a:t>
            </a:r>
            <a:r>
              <a:rPr lang="ru"/>
              <a:t>в</a:t>
            </a:r>
            <a:r>
              <a:rPr lang="ru"/>
              <a:t>о</a:t>
            </a:r>
            <a:r>
              <a:rPr lang="ru"/>
              <a:t>р</a:t>
            </a:r>
            <a:r>
              <a:rPr lang="ru"/>
              <a:t>е</a:t>
            </a:r>
            <a:r>
              <a:rPr lang="ru"/>
              <a:t>ч</a:t>
            </a:r>
            <a:r>
              <a:rPr lang="ru"/>
              <a:t>и</a:t>
            </a:r>
            <a:r>
              <a:rPr lang="ru"/>
              <a:t>в</a:t>
            </a:r>
            <a:r>
              <a:rPr lang="ru"/>
              <a:t>о</a:t>
            </a:r>
            <a:r>
              <a:rPr lang="ru"/>
              <a:t>с</a:t>
            </a:r>
            <a:r>
              <a:rPr lang="ru"/>
              <a:t>т</a:t>
            </a:r>
            <a:r>
              <a:rPr lang="ru"/>
              <a:t>ь</a:t>
            </a:r>
            <a:r>
              <a:rPr altLang="ru" lang="en-US"/>
              <a:t> </a:t>
            </a:r>
            <a:r>
              <a:rPr altLang="ru" lang="ru"/>
              <a:t>п</a:t>
            </a:r>
            <a:r>
              <a:rPr altLang="ru" lang="ru"/>
              <a:t>о</a:t>
            </a:r>
            <a:r>
              <a:rPr altLang="ru" lang="en-US"/>
              <a:t> </a:t>
            </a:r>
            <a:r>
              <a:rPr altLang="ru" lang="ru"/>
              <a:t>т</a:t>
            </a:r>
            <a:r>
              <a:rPr altLang="ru" lang="ru"/>
              <a:t>е</a:t>
            </a:r>
            <a:r>
              <a:rPr altLang="ru" lang="ru"/>
              <a:t>к</a:t>
            </a:r>
            <a:r>
              <a:rPr altLang="ru" lang="ru"/>
              <a:t>с</a:t>
            </a:r>
            <a:r>
              <a:rPr altLang="ru" lang="ru"/>
              <a:t>т</a:t>
            </a:r>
            <a:r>
              <a:rPr altLang="ru" lang="ru"/>
              <a:t>у</a:t>
            </a:r>
            <a:endParaRPr lang="ru-RU"/>
          </a:p>
          <a:p>
            <a:pPr lvl="1"/>
            <a:r>
              <a:rPr altLang="ru" lang="ru"/>
              <a:t>к</a:t>
            </a:r>
            <a:r>
              <a:rPr altLang="ru" lang="ru"/>
              <a:t>о</a:t>
            </a:r>
            <a:r>
              <a:rPr altLang="ru" lang="ru"/>
              <a:t>р</a:t>
            </a:r>
            <a:r>
              <a:rPr altLang="ru" lang="ru"/>
              <a:t>р</a:t>
            </a:r>
            <a:r>
              <a:rPr altLang="ru" lang="ru"/>
              <a:t>е</a:t>
            </a:r>
            <a:r>
              <a:rPr altLang="ru" lang="ru"/>
              <a:t>ф</a:t>
            </a:r>
            <a:r>
              <a:rPr altLang="ru" lang="ru"/>
              <a:t>е</a:t>
            </a:r>
            <a:r>
              <a:rPr altLang="ru" lang="ru"/>
              <a:t>р</a:t>
            </a:r>
            <a:r>
              <a:rPr altLang="ru" lang="ru"/>
              <a:t>е</a:t>
            </a:r>
            <a:r>
              <a:rPr altLang="ru" lang="ru"/>
              <a:t>н</a:t>
            </a:r>
            <a:r>
              <a:rPr altLang="ru" lang="ru"/>
              <a:t>ц</a:t>
            </a:r>
            <a:r>
              <a:rPr altLang="ru" lang="ru"/>
              <a:t>и</a:t>
            </a:r>
            <a:r>
              <a:rPr altLang="ru" lang="ru"/>
              <a:t>и</a:t>
            </a:r>
            <a:endParaRPr lang="ru-RU"/>
          </a:p>
          <a:p>
            <a:pPr lvl="1"/>
            <a:r>
              <a:rPr lang="ru"/>
              <a:t>ш</a:t>
            </a:r>
            <a:r>
              <a:rPr lang="ru"/>
              <a:t>у</a:t>
            </a:r>
            <a:r>
              <a:rPr lang="ru"/>
              <a:t>м</a:t>
            </a:r>
            <a:r>
              <a:rPr altLang="ru" lang="en-US"/>
              <a:t> </a:t>
            </a:r>
            <a:r>
              <a:rPr altLang="ru" lang="en-US"/>
              <a:t>-</a:t>
            </a:r>
            <a:r>
              <a:rPr altLang="ru" lang="en-US"/>
              <a:t> </a:t>
            </a:r>
            <a:r>
              <a:rPr altLang="ru" lang="ru"/>
              <a:t>н</a:t>
            </a:r>
            <a:r>
              <a:rPr altLang="ru" lang="ru"/>
              <a:t>е</a:t>
            </a:r>
            <a:r>
              <a:rPr altLang="ru" lang="ru"/>
              <a:t>с</a:t>
            </a:r>
            <a:r>
              <a:rPr altLang="ru" lang="ru"/>
              <a:t>м</a:t>
            </a:r>
            <a:r>
              <a:rPr altLang="ru" lang="ru"/>
              <a:t>ы</a:t>
            </a:r>
            <a:r>
              <a:rPr altLang="ru" lang="ru"/>
              <a:t>с</a:t>
            </a:r>
            <a:r>
              <a:rPr altLang="ru" lang="ru"/>
              <a:t>л</a:t>
            </a:r>
            <a:r>
              <a:rPr altLang="ru" lang="ru"/>
              <a:t>о</a:t>
            </a:r>
            <a:r>
              <a:rPr altLang="ru" lang="ru"/>
              <a:t>в</a:t>
            </a:r>
            <a:r>
              <a:rPr altLang="ru" lang="ru"/>
              <a:t>ы</a:t>
            </a:r>
            <a:r>
              <a:rPr altLang="ru" lang="ru"/>
              <a:t>е</a:t>
            </a:r>
            <a:r>
              <a:rPr altLang="ru" lang="en-US"/>
              <a:t> </a:t>
            </a:r>
            <a:r>
              <a:rPr altLang="ru" lang="ru"/>
              <a:t>с</a:t>
            </a:r>
            <a:r>
              <a:rPr altLang="ru" lang="ru"/>
              <a:t>и</a:t>
            </a:r>
            <a:r>
              <a:rPr altLang="ru" lang="ru"/>
              <a:t>м</a:t>
            </a:r>
            <a:r>
              <a:rPr altLang="ru" lang="ru"/>
              <a:t>в</a:t>
            </a:r>
            <a:r>
              <a:rPr altLang="ru" lang="ru"/>
              <a:t>о</a:t>
            </a:r>
            <a:r>
              <a:rPr altLang="ru" lang="ru"/>
              <a:t>л</a:t>
            </a:r>
            <a:r>
              <a:rPr altLang="ru" lang="ru"/>
              <a:t>ы</a:t>
            </a:r>
            <a:endParaRPr lang="ru-RU"/>
          </a:p>
          <a:p>
            <a:pPr lvl="1"/>
            <a:r>
              <a:rPr lang="ru"/>
              <a:t>ц</a:t>
            </a:r>
            <a:r>
              <a:rPr lang="ru"/>
              <a:t>е</a:t>
            </a:r>
            <a:r>
              <a:rPr lang="ru"/>
              <a:t>л</a:t>
            </a:r>
            <a:r>
              <a:rPr lang="ru"/>
              <a:t>о</a:t>
            </a:r>
            <a:r>
              <a:rPr lang="ru"/>
              <a:t>с</a:t>
            </a:r>
            <a:r>
              <a:rPr lang="ru"/>
              <a:t>т</a:t>
            </a:r>
            <a:r>
              <a:rPr lang="ru"/>
              <a:t>н</a:t>
            </a:r>
            <a:r>
              <a:rPr lang="ru"/>
              <a:t>о</a:t>
            </a:r>
            <a:r>
              <a:rPr lang="ru"/>
              <a:t>с</a:t>
            </a:r>
            <a:r>
              <a:rPr lang="ru"/>
              <a:t>т</a:t>
            </a:r>
            <a:r>
              <a:rPr lang="ru"/>
              <a:t>ь</a:t>
            </a:r>
            <a:r>
              <a:rPr altLang="ru" lang="en-US"/>
              <a:t>:</a:t>
            </a:r>
            <a:r>
              <a:rPr altLang="ru" lang="en-US"/>
              <a:t> </a:t>
            </a:r>
            <a:r>
              <a:rPr altLang="ru" lang="ru"/>
              <a:t>ф</a:t>
            </a:r>
            <a:r>
              <a:rPr altLang="ru" lang="ru"/>
              <a:t>о</a:t>
            </a:r>
            <a:r>
              <a:rPr altLang="ru" lang="ru"/>
              <a:t>р</a:t>
            </a:r>
            <a:r>
              <a:rPr altLang="ru" lang="ru"/>
              <a:t>м</a:t>
            </a:r>
            <a:r>
              <a:rPr altLang="ru" lang="ru"/>
              <a:t>у</a:t>
            </a:r>
            <a:r>
              <a:rPr altLang="ru" lang="ru"/>
              <a:t>л</a:t>
            </a:r>
            <a:r>
              <a:rPr altLang="ru" lang="en-US"/>
              <a:t>,</a:t>
            </a:r>
            <a:r>
              <a:rPr altLang="ru" lang="en-US"/>
              <a:t> </a:t>
            </a:r>
            <a:r>
              <a:rPr altLang="ru" lang="ru"/>
              <a:t>т</a:t>
            </a:r>
            <a:r>
              <a:rPr altLang="ru" lang="ru"/>
              <a:t>а</a:t>
            </a:r>
            <a:r>
              <a:rPr altLang="ru" lang="ru"/>
              <a:t>б</a:t>
            </a:r>
            <a:r>
              <a:rPr altLang="ru" lang="ru"/>
              <a:t>л</a:t>
            </a:r>
            <a:r>
              <a:rPr altLang="ru" lang="ru"/>
              <a:t>и</a:t>
            </a:r>
            <a:r>
              <a:rPr altLang="ru" lang="ru"/>
              <a:t>ц</a:t>
            </a:r>
            <a:r>
              <a:rPr altLang="ru" lang="en-US"/>
              <a:t> </a:t>
            </a:r>
            <a:r>
              <a:rPr altLang="ru" lang="ru"/>
              <a:t>и</a:t>
            </a:r>
            <a:r>
              <a:rPr altLang="ru" lang="en-US"/>
              <a:t> </a:t>
            </a:r>
            <a:r>
              <a:rPr altLang="ru" lang="ru"/>
              <a:t>т</a:t>
            </a:r>
            <a:r>
              <a:rPr altLang="ru" lang="ru"/>
              <a:t>д</a:t>
            </a:r>
            <a:r>
              <a:rPr altLang="ru" lang="en-US"/>
              <a:t>.</a:t>
            </a:r>
            <a:endParaRPr lang="ru-RU"/>
          </a:p>
          <a:p>
            <a:pPr lvl="1"/>
            <a:r>
              <a:rPr lang="ru"/>
              <a:t>п</a:t>
            </a:r>
            <a:r>
              <a:rPr lang="ru"/>
              <a:t>о</a:t>
            </a:r>
            <a:r>
              <a:rPr lang="ru"/>
              <a:t>к</a:t>
            </a:r>
            <a:r>
              <a:rPr lang="ru"/>
              <a:t>а</a:t>
            </a:r>
            <a:r>
              <a:rPr lang="ru"/>
              <a:t>з</a:t>
            </a:r>
            <a:r>
              <a:rPr lang="ru"/>
              <a:t>а</a:t>
            </a:r>
            <a:r>
              <a:rPr lang="ru"/>
              <a:t>т</a:t>
            </a:r>
            <a:r>
              <a:rPr lang="ru"/>
              <a:t>е</a:t>
            </a:r>
            <a:r>
              <a:rPr lang="ru"/>
              <a:t>л</a:t>
            </a:r>
            <a:r>
              <a:rPr lang="ru"/>
              <a:t>и</a:t>
            </a:r>
            <a:r>
              <a:rPr altLang="ru" lang="en-US"/>
              <a:t> </a:t>
            </a:r>
            <a:r>
              <a:rPr altLang="ru" lang="ru"/>
              <a:t>г</a:t>
            </a:r>
            <a:r>
              <a:rPr altLang="ru" lang="ru"/>
              <a:t>р</a:t>
            </a:r>
            <a:r>
              <a:rPr altLang="ru" lang="ru"/>
              <a:t>а</a:t>
            </a:r>
            <a:r>
              <a:rPr altLang="ru" lang="ru"/>
              <a:t>ф</a:t>
            </a:r>
            <a:r>
              <a:rPr altLang="ru" lang="ru"/>
              <a:t>а</a:t>
            </a:r>
            <a:r>
              <a:rPr altLang="ru" lang="en-US"/>
              <a:t>:</a:t>
            </a:r>
            <a:r>
              <a:rPr altLang="ru" lang="en-US"/>
              <a:t> </a:t>
            </a:r>
            <a:r>
              <a:rPr altLang="ru" lang="ru"/>
              <a:t>к</a:t>
            </a:r>
            <a:r>
              <a:rPr altLang="ru" lang="ru"/>
              <a:t>о</a:t>
            </a:r>
            <a:r>
              <a:rPr altLang="ru" lang="ru"/>
              <a:t>м</a:t>
            </a:r>
            <a:r>
              <a:rPr altLang="ru" lang="ru"/>
              <a:t>п</a:t>
            </a:r>
            <a:r>
              <a:rPr altLang="ru" lang="ru"/>
              <a:t>о</a:t>
            </a:r>
            <a:r>
              <a:rPr altLang="ru" lang="ru"/>
              <a:t>н</a:t>
            </a:r>
            <a:r>
              <a:rPr altLang="ru" lang="ru"/>
              <a:t>е</a:t>
            </a:r>
            <a:r>
              <a:rPr altLang="ru" lang="ru"/>
              <a:t>н</a:t>
            </a:r>
            <a:r>
              <a:rPr altLang="ru" lang="ru"/>
              <a:t>т</a:t>
            </a:r>
            <a:r>
              <a:rPr altLang="ru" lang="ru"/>
              <a:t>а</a:t>
            </a:r>
            <a:r>
              <a:rPr altLang="ru" lang="en-US"/>
              <a:t> </a:t>
            </a:r>
            <a:r>
              <a:rPr altLang="ru" lang="ru"/>
              <a:t>с</a:t>
            </a:r>
            <a:r>
              <a:rPr altLang="ru" lang="ru"/>
              <a:t>в</a:t>
            </a:r>
            <a:r>
              <a:rPr altLang="ru" lang="ru"/>
              <a:t>я</a:t>
            </a:r>
            <a:r>
              <a:rPr altLang="ru" lang="ru"/>
              <a:t>з</a:t>
            </a:r>
            <a:r>
              <a:rPr altLang="ru" lang="ru"/>
              <a:t>н</a:t>
            </a:r>
            <a:r>
              <a:rPr altLang="ru" lang="ru"/>
              <a:t>о</a:t>
            </a:r>
            <a:r>
              <a:rPr altLang="ru" lang="ru"/>
              <a:t>с</a:t>
            </a:r>
            <a:r>
              <a:rPr altLang="ru" lang="ru"/>
              <a:t>т</a:t>
            </a:r>
            <a:r>
              <a:rPr altLang="ru" lang="ru"/>
              <a:t>и</a:t>
            </a:r>
            <a:r>
              <a:rPr altLang="ru" lang="en-US"/>
              <a:t>,</a:t>
            </a:r>
            <a:r>
              <a:rPr altLang="ru" lang="en-US"/>
              <a:t> </a:t>
            </a:r>
            <a:r>
              <a:rPr altLang="ru" lang="ru"/>
              <a:t>м</a:t>
            </a:r>
            <a:r>
              <a:rPr altLang="ru" lang="ru"/>
              <a:t>о</a:t>
            </a:r>
            <a:r>
              <a:rPr altLang="ru" lang="ru"/>
              <a:t>с</a:t>
            </a:r>
            <a:r>
              <a:rPr altLang="ru" lang="ru"/>
              <a:t>т</a:t>
            </a:r>
            <a:r>
              <a:rPr altLang="ru" lang="ru"/>
              <a:t>ы</a:t>
            </a:r>
            <a:r>
              <a:rPr altLang="ru" lang="en-US"/>
              <a:t>,</a:t>
            </a:r>
            <a:r>
              <a:rPr altLang="ru" lang="en-US"/>
              <a:t> </a:t>
            </a:r>
            <a:r>
              <a:rPr altLang="ru" lang="ru"/>
              <a:t>с</a:t>
            </a:r>
            <a:r>
              <a:rPr altLang="ru" lang="ru"/>
              <a:t>т</a:t>
            </a:r>
            <a:r>
              <a:rPr altLang="ru" lang="ru"/>
              <a:t>е</a:t>
            </a:r>
            <a:r>
              <a:rPr altLang="ru" lang="ru"/>
              <a:t>п</a:t>
            </a:r>
            <a:r>
              <a:rPr altLang="ru" lang="ru"/>
              <a:t>е</a:t>
            </a:r>
            <a:r>
              <a:rPr altLang="ru" lang="ru"/>
              <a:t>н</a:t>
            </a:r>
            <a:r>
              <a:rPr altLang="ru" lang="ru"/>
              <a:t>и</a:t>
            </a:r>
            <a:r>
              <a:rPr altLang="ru" lang="en-US"/>
              <a:t> </a:t>
            </a:r>
            <a:r>
              <a:rPr altLang="ru" lang="ru"/>
              <a:t>с</a:t>
            </a:r>
            <a:r>
              <a:rPr altLang="ru" lang="ru"/>
              <a:t>в</a:t>
            </a:r>
            <a:r>
              <a:rPr altLang="ru" lang="ru"/>
              <a:t>о</a:t>
            </a:r>
            <a:r>
              <a:rPr altLang="ru" lang="ru"/>
              <a:t>б</a:t>
            </a:r>
            <a:r>
              <a:rPr altLang="ru" lang="ru"/>
              <a:t>о</a:t>
            </a:r>
            <a:r>
              <a:rPr altLang="ru" lang="ru"/>
              <a:t>д</a:t>
            </a:r>
            <a:r>
              <a:rPr altLang="ru" lang="ru"/>
              <a:t>ы</a:t>
            </a:r>
            <a:r>
              <a:rPr altLang="ru" lang="en-US"/>
              <a:t>,</a:t>
            </a:r>
            <a:r>
              <a:rPr altLang="ru" lang="en-US"/>
              <a:t> </a:t>
            </a:r>
            <a:r>
              <a:rPr altLang="ru" lang="ru"/>
              <a:t>ц</a:t>
            </a:r>
            <a:r>
              <a:rPr altLang="ru" lang="ru"/>
              <a:t>и</a:t>
            </a:r>
            <a:r>
              <a:rPr altLang="ru" lang="ru"/>
              <a:t>к</a:t>
            </a:r>
            <a:r>
              <a:rPr altLang="ru" lang="ru"/>
              <a:t>л</a:t>
            </a:r>
            <a:r>
              <a:rPr altLang="ru" lang="ru"/>
              <a:t>ы</a:t>
            </a:r>
            <a:endParaRPr lang="ru-RU"/>
          </a:p>
          <a:p>
            <a:pPr lvl="1"/>
            <a:r>
              <a:rPr altLang="ru" lang="ru"/>
              <a:t>п</a:t>
            </a:r>
            <a:r>
              <a:rPr altLang="ru" lang="ru"/>
              <a:t>о</a:t>
            </a:r>
            <a:r>
              <a:rPr altLang="ru" lang="ru"/>
              <a:t>к</a:t>
            </a:r>
            <a:r>
              <a:rPr altLang="ru" lang="ru"/>
              <a:t>р</a:t>
            </a:r>
            <a:r>
              <a:rPr altLang="ru" lang="ru"/>
              <a:t>ы</a:t>
            </a:r>
            <a:r>
              <a:rPr altLang="ru" lang="ru"/>
              <a:t>т</a:t>
            </a:r>
            <a:r>
              <a:rPr altLang="ru" lang="ru"/>
              <a:t>и</a:t>
            </a:r>
            <a:r>
              <a:rPr altLang="ru" lang="ru"/>
              <a:t>е</a:t>
            </a:r>
            <a:r>
              <a:rPr altLang="ru" lang="en-US"/>
              <a:t> </a:t>
            </a:r>
            <a:r>
              <a:rPr altLang="ru" lang="ru"/>
              <a:t>П</a:t>
            </a:r>
            <a:r>
              <a:rPr altLang="ru" lang="ru"/>
              <a:t>р</a:t>
            </a:r>
            <a:r>
              <a:rPr altLang="ru" lang="ru"/>
              <a:t>О</a:t>
            </a:r>
            <a:endParaRPr lang="ru-RU"/>
          </a:p>
          <a:p>
            <a:pPr lvl="1"/>
            <a:r>
              <a:rPr altLang="ru" lang="ru"/>
              <a:t>к</a:t>
            </a:r>
            <a:r>
              <a:rPr altLang="ru" lang="ru"/>
              <a:t>о</a:t>
            </a:r>
            <a:r>
              <a:rPr altLang="ru" lang="ru"/>
              <a:t>л</a:t>
            </a:r>
            <a:r>
              <a:rPr altLang="ru" lang="ru"/>
              <a:t>и</a:t>
            </a:r>
            <a:r>
              <a:rPr altLang="ru" lang="ru"/>
              <a:t>ч</a:t>
            </a:r>
            <a:r>
              <a:rPr altLang="ru" lang="ru"/>
              <a:t>е</a:t>
            </a:r>
            <a:r>
              <a:rPr altLang="ru" lang="ru"/>
              <a:t>с</a:t>
            </a:r>
            <a:r>
              <a:rPr altLang="ru" lang="ru"/>
              <a:t>т</a:t>
            </a:r>
            <a:r>
              <a:rPr altLang="ru" lang="ru"/>
              <a:t>в</a:t>
            </a:r>
            <a:r>
              <a:rPr altLang="ru" lang="ru"/>
              <a:t>е</a:t>
            </a:r>
            <a:r>
              <a:rPr altLang="ru" lang="ru"/>
              <a:t>н</a:t>
            </a:r>
            <a:r>
              <a:rPr altLang="ru" lang="ru"/>
              <a:t>н</a:t>
            </a:r>
            <a:r>
              <a:rPr altLang="ru" lang="ru"/>
              <a:t>ы</a:t>
            </a:r>
            <a:r>
              <a:rPr altLang="ru" lang="ru"/>
              <a:t>е</a:t>
            </a:r>
            <a:r>
              <a:rPr altLang="ru" lang="en-US"/>
              <a:t> </a:t>
            </a:r>
            <a:r>
              <a:rPr altLang="ru" lang="ru"/>
              <a:t>п</a:t>
            </a:r>
            <a:r>
              <a:rPr altLang="ru" lang="ru"/>
              <a:t>о</a:t>
            </a:r>
            <a:r>
              <a:rPr altLang="ru" lang="ru"/>
              <a:t>к</a:t>
            </a:r>
            <a:r>
              <a:rPr altLang="ru" lang="ru"/>
              <a:t>а</a:t>
            </a:r>
            <a:r>
              <a:rPr altLang="ru" lang="ru"/>
              <a:t>з</a:t>
            </a:r>
            <a:r>
              <a:rPr altLang="ru" lang="ru"/>
              <a:t>а</a:t>
            </a:r>
            <a:r>
              <a:rPr altLang="ru" lang="ru"/>
              <a:t>т</a:t>
            </a:r>
            <a:r>
              <a:rPr altLang="ru" lang="ru"/>
              <a:t>е</a:t>
            </a:r>
            <a:r>
              <a:rPr altLang="ru" lang="ru"/>
              <a:t>л</a:t>
            </a:r>
            <a:r>
              <a:rPr altLang="ru" lang="ru"/>
              <a:t>и</a:t>
            </a:r>
            <a:r>
              <a:rPr altLang="ru" lang="en-US"/>
              <a:t>:</a:t>
            </a:r>
            <a:r>
              <a:rPr altLang="ru" lang="en-US"/>
              <a:t> </a:t>
            </a:r>
            <a:r>
              <a:rPr altLang="ru" lang="ru"/>
              <a:t>в</a:t>
            </a:r>
            <a:r>
              <a:rPr altLang="ru" lang="ru"/>
              <a:t>е</a:t>
            </a:r>
            <a:r>
              <a:rPr altLang="ru" lang="ru"/>
              <a:t>р</a:t>
            </a:r>
            <a:r>
              <a:rPr altLang="ru" lang="ru"/>
              <a:t>ш</a:t>
            </a:r>
            <a:r>
              <a:rPr altLang="ru" lang="ru"/>
              <a:t>и</a:t>
            </a:r>
            <a:r>
              <a:rPr altLang="ru" lang="ru"/>
              <a:t>н</a:t>
            </a:r>
            <a:r>
              <a:rPr altLang="ru" lang="ru"/>
              <a:t>ы</a:t>
            </a:r>
            <a:r>
              <a:rPr altLang="ru" lang="en-US"/>
              <a:t>,</a:t>
            </a:r>
            <a:r>
              <a:rPr altLang="ru" lang="en-US"/>
              <a:t> </a:t>
            </a:r>
            <a:r>
              <a:rPr altLang="ru" lang="ru"/>
              <a:t>р</a:t>
            </a:r>
            <a:r>
              <a:rPr altLang="ru" lang="ru"/>
              <a:t>е</a:t>
            </a:r>
            <a:r>
              <a:rPr altLang="ru" lang="ru"/>
              <a:t>б</a:t>
            </a:r>
            <a:r>
              <a:rPr altLang="ru" lang="ru"/>
              <a:t>р</a:t>
            </a:r>
            <a:r>
              <a:rPr altLang="ru" lang="ru"/>
              <a:t>а</a:t>
            </a:r>
            <a:r>
              <a:rPr altLang="ru" lang="en-US"/>
              <a:t> </a:t>
            </a:r>
            <a:r>
              <a:rPr altLang="ru" lang="ru"/>
              <a:t>п</a:t>
            </a:r>
            <a:r>
              <a:rPr altLang="ru" lang="ru"/>
              <a:t>о</a:t>
            </a:r>
            <a:r>
              <a:rPr altLang="ru" lang="en-US"/>
              <a:t> </a:t>
            </a:r>
            <a:r>
              <a:rPr altLang="ru" lang="ru"/>
              <a:t>т</a:t>
            </a:r>
            <a:r>
              <a:rPr altLang="ru" lang="ru"/>
              <a:t>и</a:t>
            </a:r>
            <a:r>
              <a:rPr altLang="ru" lang="ru"/>
              <a:t>п</a:t>
            </a:r>
            <a:r>
              <a:rPr altLang="ru" lang="ru"/>
              <a:t>а</a:t>
            </a:r>
            <a:r>
              <a:rPr altLang="ru" lang="ru"/>
              <a:t>м</a:t>
            </a:r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Company>HP</Company>
  <LinksUpToDate>0</LinksUpToDate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Предобработка</dc:title>
  <dc:creator>наталья евстифеева</dc:creator>
  <cp:lastModifiedBy>наталья евстифеева</cp:lastModifiedBy>
  <dcterms:created xsi:type="dcterms:W3CDTF">2026-09-22T01:57:41Z</dcterms:created>
  <dcterms:modified xsi:type="dcterms:W3CDTF">2026-09-23T14:06:15Z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823a850c76b6449a9e9a74f4b4f922a3</vt:lpwstr>
  </property>
</Properties>
</file>