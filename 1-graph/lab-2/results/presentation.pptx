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Размер чанка, токенов o200k (среднее)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Sheet1!$A$2:$A$4</c:f>
              <c:strCache>
                <c:ptCount val="3"/>
                <c:pt idx="0">
                  <c:v>tanaka1981</c:v>
                </c:pt>
                <c:pt idx="1">
                  <c:v>stat3</c:v>
                </c:pt>
                <c:pt idx="2">
                  <c:v>всего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1158.9</c:v>
                </c:pt>
                <c:pt idx="1">
                  <c:v>1069.6</c:v>
                </c:pt>
                <c:pt idx="2">
                  <c:v>1136.5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tanaka1981</c:v>
                </c:pt>
                <c:pt idx="1">
                  <c:v>stat3</c:v>
                </c:pt>
                <c:pt idx="2">
                  <c:v>всего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651.6</c:v>
                </c:pt>
                <c:pt idx="1">
                  <c:v>855.9</c:v>
                </c:pt>
                <c:pt idx="2">
                  <c:v>691.3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Вершины по типам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Sheet1!$A$2:$A$7</c:f>
              <c:strCache>
                <c:ptCount val="6"/>
                <c:pt idx="0">
                  <c:v>процесс</c:v>
                </c:pt>
                <c:pt idx="1">
                  <c:v>параметр</c:v>
                </c:pt>
                <c:pt idx="2">
                  <c:v>мех. свойство</c:v>
                </c:pt>
                <c:pt idx="3">
                  <c:v>микроструктура</c:v>
                </c:pt>
                <c:pt idx="4">
                  <c:v>фаза</c:v>
                </c:pt>
                <c:pt idx="5">
                  <c:v>персона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</c:v>
                </c:pt>
                <c:pt idx="1">
                  <c:v>56</c:v>
                </c:pt>
                <c:pt idx="2">
                  <c:v>25</c:v>
                </c:pt>
                <c:pt idx="3">
                  <c:v>24</c:v>
                </c:pt>
                <c:pt idx="4">
                  <c:v>31</c:v>
                </c:pt>
                <c:pt idx="5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Sheet1!$A$2:$A$7</c:f>
              <c:strCache>
                <c:ptCount val="6"/>
                <c:pt idx="0">
                  <c:v>процесс</c:v>
                </c:pt>
                <c:pt idx="1">
                  <c:v>параметр</c:v>
                </c:pt>
                <c:pt idx="2">
                  <c:v>мех. свойство</c:v>
                </c:pt>
                <c:pt idx="3">
                  <c:v>микроструктура</c:v>
                </c:pt>
                <c:pt idx="4">
                  <c:v>фаза</c:v>
                </c:pt>
                <c:pt idx="5">
                  <c:v>персона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54</c:v>
                </c:pt>
                <c:pt idx="1">
                  <c:v>77</c:v>
                </c:pt>
                <c:pt idx="2">
                  <c:v>40</c:v>
                </c:pt>
                <c:pt idx="3">
                  <c:v>39</c:v>
                </c:pt>
                <c:pt idx="4">
                  <c:v>43</c:v>
                </c:pt>
                <c:pt idx="5">
                  <c:v>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Тема: как предобработка текста меняет граф знаний. Корпус — два учебника по контролируемой прокатке стали: английский обзор Tanaka (1981) и русская статья. Оба текста строят один общий граф. Сравниваем граф из сырого текста MinerU и граф после предобработки. Это вторая версия: этапы переставлены, качество этапов меряется на эталоне, все критерии считаются обходами графа.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Оба графа строит GraphRAG с одинаковыми настройками: gpt-4o-mini, bge-m3, те же промпты и типы сущностей. Грязный граф — из markdown MinerU, из которого убран только список литературы, иначе сравнение нечестное. Чистый — после пяти этапов. Очистка и нормализация работают с книгой целиком, chunking режет уже чистый текст. Качество этапов меряем на четырёх страницах, которые автор выверил вручную по PDF; проверка эталона командой ещё не завершена, поэтому цифры на эталоне предварительные. Критерии сравнения графов считаем обходами графа; LLM — только для непротиворечивости.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Удаляем колонтитулы, номера страниц, ссылки на картинки, HTML-сноски, маркеры цитат и шапку с авторами, склеиваем абзацы, разорванные страницей, и переносы. Качество — на эталонных страницах: CER упал с 9,7% до 0,2%, удалено 13 из 13 блоков, которые должны были уйти, и ни одного лишнего. Это хорошо: остаток CER — OCR-ошибки в индексах таблицы, которые очистка не исправляет. Числа, формулы и ячейки таблиц сохранены на 100%.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Приводим величины к одному виду, расшифровываем аббревиатуры и ставим перед русским термином канонический английский — заново каждые 3000 символов, поэтому пометка не зависит от будущего разбиения. Английский в скобках после русского модель игнорирует, а английский первым — нет: так у двух книг появилось 23 общих терминов. Термины лемматизируются: существительные и пары «прилагательное + существительное» подряд. Цена — русский текст становится неграмматичным («со скорость»): для графа это нужно, чтобы формы слова склеились в одну вершину, но читать такой текст хуже. На эталоне все 7 величин и 10 терминов приведены верно — хорошо, но выборка маленькая.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GraphRAG по умолчанию режет текст окнами по 1200 токенов: каждая граница рвёт предложение, таблица разрезана. Структурный разбивщик идёт по разделам и абзацам чистого текста, не режет формулы и таблицы и ставит границу на конце предложения. Внутри предложения осталось 1 из 34 границ — длинный раздел без удобного места. Чанки мельче, поэтому GraphRAG их не перерезает; они сохранены для RAG. Обратная сторона: из мелких чанков модель извлекает больше вершин на токен — это видно дальше на графах.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OOV упал с 1,39% до 1,00% за счёт склеенных переносов; считаем по исходным словам, вставленные английские термины в знаменатель не входят. Остаток — редкие термины, которых нет в частотном словаре. Словарь TF-IDF уменьшился с 2416 до 2155: ушли обрывки слов и формы одного термина — это хорошо. Разреженность почти не изменилась, потому что окна одинаковые, по 300 слов. Сходство русских чанков с английскими выросло — частично за счёт вставленных английских терминов. Поиск по 26 вопросам на обоих языках разложен на вклад разбиения и вклад предобработки: MRR 0,59 → 0,77.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грязный граф: в его крупнейшей компоненте 7 из 87 русских вершин, общих вершин у книг 5. Справа чистый: в крупнейшей компоненте 21 из 89 русских вершин, общих вершин 15 — CONTROLLED ROLLING, AUSTENITE, NIOBIUM. Улучшение заметное, но частичное: большая часть русских вершин всё ещё вне крупнейшей компоненты, а прямых рёбер между языками нет ни в одном графе — книги связываются только через общие вершины.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восемь критериев задания посчитаны по графу, последней строкой — обходы. Семь критериев — алгоритмом, без LLM; непротиворечивость — гибрид: контекст собирает обход BFS-2, оценивает gpt-4.1. Лучше стали полнота, связность, покрытие и обходы: предобработка приблизила русскую книгу к английской. Хуже — корреференции (модель называет одно понятие в ед. и мн. числе) и шум: в чистом графе появились вершины-переменные формул, потому что формулы приходят в модель целиком. Формулы не сохраняет ни один граф — это ограничение GraphRAG. Рост покрытия отчасти по построению: 33 из 40 понятий — термины глоссария, которые нормализация вставляет в чистый текст. Часть роста вершин — эффект более мелких чанков: 17,0 вершины на 1000 токенов против 10,2.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Вершин стало 424 вместо 324, но на 1000 токенов входа — 17,0 против 10,2: чистый текст пришёл мелкими чанками, и модель извлекает из них больше. Крупнейшая компонента выросла с 55% до 66% вершин, независимых циклов больше — появились альтернативные связи. Компонент и изолированных вершин больше, потому что больше вершин. Мостов и точек сочленения много в обоих графах: больше половины вершин — листья (164 и 215), граф GraphRAG — «звёзды» вокруг хабов. Максимальная степень 48 → 78: хаб CONTROLLED ROLLING собрал связи обеих книг. Распределение по типам похожее; персон больше — мелкие чанки чаще выносят цитируемых авторов в вершины.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Ищем пути между 10 парами понятий из разных частей предметной области. В грязном графе для 4 пар одного из понятий нет совсем — это недостаток покрытия; из 6 оставшихся связаны 5. В чистом найдены все понятия, связаны 9 пар из 10. От ключевых понятий BFS на 2 шага достаёт вершины русской книги: 8% достигнутых вершин в грязном графе и 20% в чистом. Покрытие 40 понятий выросло с 80,0% до 92,5% по названиям и с 57,5% до 65,0% по векторам названий вершин. Рост отчасти по построению: новые понятия чистого графа — термины глоссария, которые нормализация вставила в текст; а pearlite, который был в грязном графе, в чистом потерян. Шум в окрестностях понятий низкий в обоих графах.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Шум — пять регулярных правил и проверка по словарю по всем вершинам. Слова, которых нет ни в тексте, ни в словаре, — опечатки самой модели-экстрактора: их 7 в грязном графе и 9 в чистом, предобработка на них не влияет. Числа в грязном графе — индексы текстуры вроде {554}: модель сделала из них вершины. Шум в чистом графе выше из-за переменных формул: 23 из 32, потому что формулы приходят в модель целиком. Корреференции: дубликаты по леммам и эмбеддингам названий; вершин-местоимений GraphRAG не создаёт ни в одном графе. Дубликатов в чистом больше — модель пишет одно понятие в ед. и мн. числе. Формулы: обозначения формулы ищем в вершине и в окне обхода 2 × 3 — ни одна формула не собирается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120 вершин каждого графа собираем окно BFS-2: соседей, их описания и связи, плюс фрагмент текста, где название вершины встречается чаще всего. gpt-4.1 отвечает: определён ли термин полностью и сколько утверждений противоречат тексту. Готовых метрик судья не видит. В чистом графе вершин с противоречиями 30,8% против 41,7%: разница 11 п. п. при стандартной ошибке около 6 п. п. — на границе погрешности. Типичная ошибка в обоих графах — модель-экстрактор обобщает частное утверждение текста.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Главное: предобработка приблизила русскую книгу к английской — выросли покрытие предметной области, полнота и число связанных пар понятий. Этапы предобработки хороши на эталоне. Не решено: дубликаты в ед. и мн. числе и вершины-переменные из формул; формулы GraphRAG не сохраняет; большая часть русских вершин по-прежнему вне крупнейшей компоненты. Ограничения: ручной глоссарий, один прогон GraphRAG, судья — одна модель, эталон — 4 страницы. Следующий шаг — RAG на сохранённых чанках и векторах.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F2328"/>
                </a:solidFill>
                <a:latin typeface="Calibri"/>
              </a:rPr>
              <a:t>Предобработка текста для графа знаний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718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5F5E5A"/>
                </a:solidFill>
                <a:latin typeface="Calibri"/>
              </a:rPr>
              <a:t>Грязный и чистый граф по двум учебникам о контролируемой прокатке стали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tanaka1981 (EN, 28 с.) + stat3 (RU, 10 с.) · MinerU → GraphRAG · gpt-4o-mini, bge-m3 · судья gpt-4.1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Эксперимент: отличие только в предобработке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B6834"/>
                </a:solidFill>
                <a:latin typeface="Calibri"/>
              </a:rPr>
              <a:t>Грязный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20240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MinerU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90672" y="164592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28416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− литература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98848" y="164592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36592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GraphRAG</a:t>
            </a:r>
            <a:r>
              <a:rPr sz="1100" b="0">
                <a:solidFill>
                  <a:srgbClr val="008300"/>
                </a:solidFill>
              </a:rPr>
              <a:t> 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Чистый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20240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MinerU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8416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Очистка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36592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Нормализация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7024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Chunking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52944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Токенизация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23376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0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Векторизация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1552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369296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GraphRAG</a:t>
            </a:r>
            <a:r>
              <a:rPr sz="1100" b="0">
                <a:solidFill>
                  <a:srgbClr val="008300"/>
                </a:solidFill>
              </a:rPr>
              <a:t> 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023360"/>
            <a:ext cx="110642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Одинаковые модели, промпты и типы сущностей; оба учебника → один граф.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Эталон: 4 страницы (по 2 из книги), выверенные автором по PDF, проверка командой не завершена — CER/WER, точность и полнота удалений, точность приведения величин и терминов.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Графы: грязный 324 вершин / 336 рёбер, чистый 424 / 437; у каждой вершины вектор bge-m3.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5F5E5A"/>
                </a:solidFill>
                <a:latin typeface="Calibri"/>
              </a:rPr>
              <a:t>Метки у метрик:</a:t>
            </a:r>
            <a:r>
              <a:rPr sz="1800" b="0">
                <a:solidFill>
                  <a:srgbClr val="008300"/>
                </a:solidFill>
              </a:rPr>
              <a:t> ⋆</a:t>
            </a:r>
            <a:r>
              <a:rPr sz="1400">
                <a:solidFill>
                  <a:srgbClr val="5F5E5A"/>
                </a:solidFill>
                <a:latin typeface="Calibri"/>
              </a:rPr>
              <a:t> — LLM   </a:t>
            </a:r>
            <a:r>
              <a:rPr sz="1800" b="0">
                <a:solidFill>
                  <a:srgbClr val="008300"/>
                </a:solidFill>
              </a:rPr>
              <a:t> ⋄</a:t>
            </a:r>
            <a:r>
              <a:rPr sz="1400">
                <a:solidFill>
                  <a:srgbClr val="5F5E5A"/>
                </a:solidFill>
                <a:latin typeface="Calibri"/>
              </a:rPr>
              <a:t> — алгоритм   </a:t>
            </a:r>
            <a:r>
              <a:rPr sz="1800" b="0">
                <a:solidFill>
                  <a:srgbClr val="008300"/>
                </a:solidFill>
              </a:rPr>
              <a:t> ⊹</a:t>
            </a:r>
            <a:r>
              <a:rPr sz="1400">
                <a:solidFill>
                  <a:srgbClr val="5F5E5A"/>
                </a:solidFill>
                <a:latin typeface="Calibri"/>
              </a:rPr>
              <a:t> — гибрид: обход графа + LLM 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1. Очистка: на эталоне ошибок почти не осталось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9,7%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0,2%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CER относительно эталона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14,4%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2,0%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WER относительно эталона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—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13/13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удалено нужных блоков, лишних 0; F1 100%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3337560"/>
          <a:ext cx="11064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2194560"/>
                <a:gridCol w="283464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Метрика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сырой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после очистки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Доля шумовых символов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0,03%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Служебные метки / разорванные абзацы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376 / 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 / 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Переносы в словах / PII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93 /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 / 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Сохранено чисел / формул / ячеек таблиц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100% / 100% / 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534924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48640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re.sub(r"&lt;/?(?:strong|u|b|i|em)&gt;", "", text);   re.sub(r"\s*\$\^\{[\d,\s–-]+\}\$", "", text)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re.sub(r"([^\W\d_]+)-\s+([а-яё]+)", r"\1\2", text);   блоки = колонтитулы ∪ r"^\d{1,3}$" → удалить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2. Нормализация: величины, термины, леммы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20%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величин в едином виде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40156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0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11480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терминов глоссария в обеих книгах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7269480" cy="338328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55448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6834"/>
                </a:solidFill>
                <a:latin typeface="Calibri"/>
              </a:rPr>
              <a:t>stat3, было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192024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…эффект КП, как способ измельчения зерна аустенита путем рекристаллизации… ускоренное охлаждение после деформации со скоростями 10–30&lt;sup&gt;0&lt;/sup&gt;С/сек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83464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Calibri"/>
              </a:rPr>
              <a:t>стало (леммы терминов — ценой грамматики)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200400"/>
            <a:ext cx="6766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…эффект КП, как способ grain refinement (измельчения зерно) аустенит путем рекристаллизация… ускоренное охлаждение после deformation (деформация) со скорость 10–30 °C/с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9834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Эталон: величины 7/7, термины 10/10; лемматизировано 6,8% слов (полная лемматизация — 24%)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8640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re.sub(r"&lt;sup&gt;\s*[0o°]\s*&lt;/sup&gt;\s*[СC]", " °C", text)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periodic(r"\bконтролируем\w* прокатк\w*", lambda m: f"controlled rolling ({m[0]})", every=3000)   ← glossary.yaml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3. Chunking: по структуре уже чистого текста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100%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границ чанков режут предложение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40156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6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11480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формул и таблиц разрезано границей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480560" y="1325880"/>
          <a:ext cx="71323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480560" y="498348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Чанков: 28 → 36; максимум 1053 токенов.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8640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blocks = parse_blocks(clean_book)  →  разделы по заголовкам, формулы $$…$$ и &lt;table&gt; — неделимые блоки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cut = последняя граница, где tokens(left) ≤ 900 и ends_sentence(left) and not starts_lowercase(right)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4–5. Токенизация, векторизация и поиск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594360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Метрика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сырой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OOV-rate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1,39%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1,00%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Уникальных OOV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Обрывки формул ($ без пары)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Словарь TF-IDF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2416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2155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Разреженность TF-IDF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0,936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0,930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Сходство RU→EN, лучший чанк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0,611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0,666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766560" y="1417320"/>
          <a:ext cx="521208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MRR, 26 вопросов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окна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структура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грязный текст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0,59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0,70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чистый текст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2697480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Hit@1: 35% → 65%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Другой язык (12 вопросов): 0,52 → 0,72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Вопросы одногруппника (10): 0,54 → 0,70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34340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48056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oov = [w for w in words if zipf_frequency(w, lang) == 0 and w not in glossary]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cos(bge_m3(question), bge_m3(chunk)) → rank → Hit@k, MRR = mean(1 / rank первого верного), NDCG@10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Графы: русская часть ближе к английской</a:t>
            </a:r>
          </a:p>
        </p:txBody>
      </p:sp>
      <p:pic>
        <p:nvPicPr>
          <p:cNvPr id="3" name="Picture 2" descr="dirty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5747657" cy="5029200"/>
          </a:xfrm>
          <a:prstGeom prst="rect">
            <a:avLst/>
          </a:prstGeom>
        </p:spPr>
      </p:pic>
      <p:pic>
        <p:nvPicPr>
          <p:cNvPr id="4" name="Picture 3" descr="clean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234440"/>
            <a:ext cx="5747657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09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6834"/>
                </a:solidFill>
                <a:latin typeface="Calibri"/>
              </a:rPr>
              <a:t>в крупнейшей компоненте 7 из 87 русских вершин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6309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Calibri"/>
              </a:rPr>
              <a:t>в крупнейшей компоненте 21 из 89 русских вершин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8 критериев задания и обходы: грязный → чистый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1099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4206240"/>
                <a:gridCol w="1234440"/>
                <a:gridCol w="123444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Критерий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Как считаем по графу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Вывод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Полнота по тексту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180 терминов текста среди вершин: леммы или cos bge-m3 ≥ 0,8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57,8%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65,6%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лучше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Непротиворечивость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вершина + окно BFS-2 + фрагмент текста → gpt-4.1, 120 вершин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41,7%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30,8%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лучше, на границе погрешности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Корреференции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вершин-дубликатов по леммам и cos ≥ 0,92; местоимений BFS-3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14 / 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21 / 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хуже: ед./мн. число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Шум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5 регулярных правил + словарь по всем вершинам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5,2%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хуже: переменные формул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Целостность формул и таблиц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доля обозначений формулы в лучшем окне 2 × 3; таблиц целы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2,8%; 0 из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11,2%; 0 из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формулы рвутся в обоих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Показатели графа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крупнейшая компонента; циклы E − V + 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55%; 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66%; 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связнее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Покрытие ПрО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40 понятий: по названиям и леммам / по векторам названий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80,0% / 57,5%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92,5% / 65,0%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лучше, отчасти по построению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Вершины и рёбра по типам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вершины / рёбра; типов вершин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324 / 336; 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424 / 437; 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больше, часть — мелкие чанки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+ обходы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пары понятий, связанные путём; вершины русской книги в BFS-2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5 из 6; 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9 из 10; 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лучше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0807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5F5E5A"/>
                </a:solidFill>
                <a:latin typeface="Calibri"/>
              </a:rPr>
              <a:t>Метки у метрик:</a:t>
            </a:r>
            <a:r>
              <a:rPr sz="1800" b="0">
                <a:solidFill>
                  <a:srgbClr val="008300"/>
                </a:solidFill>
              </a:rPr>
              <a:t> ⋆</a:t>
            </a:r>
            <a:r>
              <a:rPr sz="1400">
                <a:solidFill>
                  <a:srgbClr val="5F5E5A"/>
                </a:solidFill>
                <a:latin typeface="Calibri"/>
              </a:rPr>
              <a:t> — LLM   </a:t>
            </a:r>
            <a:r>
              <a:rPr sz="1800" b="0">
                <a:solidFill>
                  <a:srgbClr val="008300"/>
                </a:solidFill>
              </a:rPr>
              <a:t> ⋄</a:t>
            </a:r>
            <a:r>
              <a:rPr sz="1400">
                <a:solidFill>
                  <a:srgbClr val="5F5E5A"/>
                </a:solidFill>
                <a:latin typeface="Calibri"/>
              </a:rPr>
              <a:t> — алгоритм   </a:t>
            </a:r>
            <a:r>
              <a:rPr sz="1800" b="0">
                <a:solidFill>
                  <a:srgbClr val="008300"/>
                </a:solidFill>
              </a:rPr>
              <a:t> ⊹</a:t>
            </a:r>
            <a:r>
              <a:rPr sz="1400">
                <a:solidFill>
                  <a:srgbClr val="5F5E5A"/>
                </a:solidFill>
                <a:latin typeface="Calibri"/>
              </a:rPr>
              <a:t> — гибрид: обход графа + LLM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Показатели графа и типы вершин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713232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46304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Показатель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Вершины / рёбра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324 / 336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424 / 437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Вершин на 1000 токенов входа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10,2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17,0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Компоненты / изолированные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62 / 46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84 / 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Доля крупнейшей компоненты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Мосты / точки сочленения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174 / 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229 / 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Независимые циклы (E − V + C)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Средняя / макс. степень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2,07 / 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2,06 / 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Пар типов у рёбер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955279" y="1325880"/>
          <a:ext cx="384048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Обходы и покрытие предметной области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5/6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9/10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пар связаны путём (из пар, где оба понятия найдены)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80,0%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92,5%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покрытие ПрО: из 40 понятий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8%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вершин русской книги в BFS-2 от ключевых понятий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3337560"/>
          <a:ext cx="91440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1945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Обход от ключевых понятий, в среднем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BFS-1 / BFS-2 / BFS-3, вершин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14 / 57 / 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17 / 90 / 183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Ключевых понятий в BFS-2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11,3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14,2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Шумовых вершин в BFS-2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1,0%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2,1%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Покрытие ПрО по векторам названий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57,5%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65,0%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DFS: достижимо вершин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5623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F5E5A"/>
                </a:solidFill>
                <a:latin typeface="Calibri"/>
              </a:rPr>
              <a:t>Новый путь в чистом графе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PRECIPITATION  →  RECRYSTALLIZATION KINETICS  →  NON-RECRYSTALLIZATION REGION  →  DEFORMATION IN NON-RECRYSTALLIZATION REGION  →  RECRYSTALLIZATION  →  GRAIN 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Шум, корреференции, формулы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7772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600200"/>
                <a:gridCol w="16002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Показатель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Шумовые вершины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17 (5,2%)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32 (7,5%)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  переменные формул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  слова не из текста и словаря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  числа и единицы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Вершин в группах дубликатов по леммам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Пар-дубликатов по эмбеддингам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Вершин-местоимений (BFS-3)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Формулы: целиком в вершине или окне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0 из 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0 из 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Таблица: целиком в вершине или окне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0 из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0 из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0" y="1280160"/>
            <a:ext cx="3063240" cy="484632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23960" y="14173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B6834"/>
                </a:solidFill>
                <a:latin typeface="Calibri"/>
              </a:rPr>
              <a:t>Не из текста, грязный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23960" y="1783080"/>
            <a:ext cx="27432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UNDERCOOLING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UNIALAXIAL YIELD STRESS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ПЛАТОФОРМА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ПРОСОЧИВАНИЕ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ТЕПЕРАТУРНЫЕ ПАРАМЕТРЫ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60" y="34290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Шум чистого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3960" y="379476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D_C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F_C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BIMITE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DOUGLAS^2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GHGR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4892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Дубликаты чистого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525780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NB(C,N) = NB(C, N)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N_{S} = N_S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ПРОКАТ = ПРОКАТЫ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Непротиворечивость: контекст из графа → судья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41,7%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30,8%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вершин с противоречиями</a:t>
            </a:r>
            <a:r>
              <a:rPr sz="1300" b="0">
                <a:solidFill>
                  <a:srgbClr val="008300"/>
                </a:solidFill>
              </a:rPr>
              <a:t> 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2,5%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4,2%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терминов определены полностью</a:t>
            </a:r>
            <a:r>
              <a:rPr sz="1300" b="0">
                <a:solidFill>
                  <a:srgbClr val="008300"/>
                </a:solidFill>
              </a:rPr>
              <a:t> 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51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противоречий всего</a:t>
            </a:r>
            <a:r>
              <a:rPr sz="1300" b="0">
                <a:solidFill>
                  <a:srgbClr val="008300"/>
                </a:solidFill>
              </a:rPr>
              <a:t> 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3756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7472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context = vertex + window(graph, vertex, depth=2, breadth=3) + relations + source_fragment(vertex)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gpt-4.1 → {"definition": "full|partial|none", "contradictions": n}     противоречие ≠ «во фрагменте не сказано»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11064240" cy="164592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480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F5E5A"/>
                </a:solidFill>
                <a:latin typeface="Calibri"/>
              </a:rPr>
              <a:t>Примеры ответов судьи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4632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Calibri"/>
              </a:rPr>
              <a:t>грязный, NIOBIUM STEEL: вершина говорит, что Nb-сталь измельчает зерно динамической рекристаллизацией, а текст — что в Nb-стали она почти невозможна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Calibri"/>
              </a:rPr>
              <a:t>чистый, V: вершина преувеличивает влияние ванадия на рекристаллизацию; связь V с дисперсионным упрочнением передана верно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clean_graph_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Выводы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Очистка на эталоне: CER 9,7% → 0,2%, удалено 13 из 13 нужных блоков и ни одного лишнего.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Нормализация «английский канон первым» дала 23 общих термина двух книг; эталон 7/7 и 10/10.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Chunking после очистки: 3% границ режут предложение вместо 100%, формулы и таблицы целы; MRR 0,59 → 0,77.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Граф: покрытие ПрО 80,0% → 92,5% (отчасти по построению — понятия из глоссария), полнота 58% → 66%, связаны 5 из 6 → 9 из 10 пар понятий.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Русская книга ближе: русских вершин в крупнейшей компоненте 7 из 87 → 21 из 89; связь частичная.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Хуже: дубликаты ед./мн. числа и вершины-переменные формул — нужна склейка вершин после извлечения.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Формулы и таблица не сохраняются ни в одном графе: это ограничение GraphRAG, а не предобработки.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