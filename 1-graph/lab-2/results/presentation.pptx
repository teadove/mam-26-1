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F2328"/>
                </a:solidFill>
              </a:rPr>
              <a:t>Размер чанка, токенов o200k (среднее)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грязный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Sheet1!$A$2:$A$4</c:f>
              <c:strCache>
                <c:ptCount val="3"/>
                <c:pt idx="0">
                  <c:v>tanaka1981</c:v>
                </c:pt>
                <c:pt idx="1">
                  <c:v>stat3</c:v>
                </c:pt>
                <c:pt idx="2">
                  <c:v>всего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1179.0</c:v>
                </c:pt>
                <c:pt idx="1">
                  <c:v>1144.3</c:v>
                </c:pt>
                <c:pt idx="2">
                  <c:v>1171.7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чистый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tanaka1981</c:v>
                </c:pt>
                <c:pt idx="1">
                  <c:v>stat3</c:v>
                </c:pt>
                <c:pt idx="2">
                  <c:v>всего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654.7</c:v>
                </c:pt>
                <c:pt idx="1">
                  <c:v>823.1</c:v>
                </c:pt>
                <c:pt idx="2">
                  <c:v>683.8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8D3"/>
            </a:solidFill>
          </a:ln>
        </c:spPr>
        <c:txPr>
          <a:bodyPr/>
          <a:lstStyle/>
          <a:p>
            <a:pPr>
              <a:defRPr sz="1200">
                <a:solidFill>
                  <a:srgbClr val="1F232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5F5E5A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F2328"/>
                </a:solidFill>
              </a:rPr>
              <a:t>Вершины по типам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грязный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Sheet1!$A$2:$A$7</c:f>
              <c:strCache>
                <c:ptCount val="6"/>
                <c:pt idx="0">
                  <c:v>процесс</c:v>
                </c:pt>
                <c:pt idx="1">
                  <c:v>параметр</c:v>
                </c:pt>
                <c:pt idx="2">
                  <c:v>мех. свойство</c:v>
                </c:pt>
                <c:pt idx="3">
                  <c:v>микроструктура</c:v>
                </c:pt>
                <c:pt idx="4">
                  <c:v>фаза</c:v>
                </c:pt>
                <c:pt idx="5">
                  <c:v>персона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74</c:v>
                </c:pt>
                <c:pt idx="1">
                  <c:v>62</c:v>
                </c:pt>
                <c:pt idx="2">
                  <c:v>36</c:v>
                </c:pt>
                <c:pt idx="3">
                  <c:v>36</c:v>
                </c:pt>
                <c:pt idx="4">
                  <c:v>28</c:v>
                </c:pt>
                <c:pt idx="5">
                  <c:v>105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чистый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Sheet1!$A$2:$A$7</c:f>
              <c:strCache>
                <c:ptCount val="6"/>
                <c:pt idx="0">
                  <c:v>процесс</c:v>
                </c:pt>
                <c:pt idx="1">
                  <c:v>параметр</c:v>
                </c:pt>
                <c:pt idx="2">
                  <c:v>мех. свойство</c:v>
                </c:pt>
                <c:pt idx="3">
                  <c:v>микроструктура</c:v>
                </c:pt>
                <c:pt idx="4">
                  <c:v>фаза</c:v>
                </c:pt>
                <c:pt idx="5">
                  <c:v>персона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61</c:v>
                </c:pt>
                <c:pt idx="1">
                  <c:v>67</c:v>
                </c:pt>
                <c:pt idx="2">
                  <c:v>27</c:v>
                </c:pt>
                <c:pt idx="3">
                  <c:v>50</c:v>
                </c:pt>
                <c:pt idx="4">
                  <c:v>35</c:v>
                </c:pt>
                <c:pt idx="5">
                  <c:v>26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8D3"/>
            </a:solidFill>
          </a:ln>
        </c:spPr>
        <c:txPr>
          <a:bodyPr/>
          <a:lstStyle/>
          <a:p>
            <a:pPr>
              <a:defRPr sz="1200">
                <a:solidFill>
                  <a:srgbClr val="1F232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5F5E5A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Тема: как предобработка текста меняет граф знаний. Корпус — два учебника по контролируемой прокатке стали: английский обзор Tanaka (1981) и русская статья. Оба текста строят один общий граф. Сравниваем граф из сырого текста MinerU и граф после полной предобработки.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Оба графа строятся GraphRAG с одинаковыми настройками: gpt-4o-mini, эмбеддинги bge-m3, одни и те же промпты и типы сущностей, размер чанка 1200 токенов. Грязный граф — из markdown MinerU как есть. Чистый — из того же markdown после пяти этапов предобработки. После каждого этапа считаем метрики по каждой книге и суммарно, каждый этап проверял независимый ревьюер.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GraphRAG по умолчанию режет текст окнами по 1200 токенов — почти каждая граница рвёт предложение, а таблица разрезана пополам. Структурный разбивщик идёт по разделам и абзацам, не режет формулы и таблицы и предпочитает границы на конце предложения. Чанки сохранены — они пойдут в 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Удаляем колонтитулы, номера страниц, ссылки на картинки, HTML-сноски, маркеры цитат, список литературы и метаданные авторов (PII). Склеиваем абзацы, разорванные страницами и подписями к рисункам, и переносы. Все правки журналируются. Числа, формулы и ячейки таблиц в содержательной части сохранены на 100%.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Приводим единицы к одному виду (°C с пробелом, диапазоны через тире, Н/мм²), расшифровываем аббревиатуры и сводим термины к канону через двуязычный глоссарий. Важная находка: если писать английский термин в скобках после русского, gpt-4o-mini всё равно называет сущности по-русски. Работает только вариант, где канонический английский термин стоит первым — один раз на чанк. Так появились общие для двух книг узлы.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OOV считаем по словарю wordfreq плюс доменный глоссарий. Честная оговорка: у tanaka снижение OOV почти целиком дал удалённый список литературы, а у stat3 — склеенные переносы. Векторы bge-m3 (1024) посчитаны для каждого чанка — это база для следующего этапа, RAG, — и для каждой вершины графа, они записаны атрибутом вершин. Межъязыковое сходство выросло, но примерно 40% прироста дают вставленные английские термины.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грязный граф: русский текст (оранжевый) — отдельный остров вокруг узла КП, между языками ноль рёбер. Справа чистый: русские сущности висят на общих узлах — CONTROLLED ROLLING, AUSTENITE, NIOBIUM и других; зелёные узлы извлечены из обеих книг.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Вершин стало меньше — ушёл шум (транслит, авторы, обрывки), а рёбер больше: граф плотнее. Компонент связности стало вдвое меньше, крупнейшая компонента охватывает больше вершин. Мостов почти столько же, а независимых циклов вдвое больше — у знаний появились альтернативные связи.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Берём 8 ключевых концептов как стартовые вершины и 10 пар концептов из разных частей предметной области. В грязном графе связаны только 2 пары из 10 — остальные в разных компонентах, в основном из-за языкового разрыва. В чистом связаны все 10. BFS на 2 шага теперь достаёт узлы из другого языка, а доля шумовых узлов среди достигнутых — по оценке судьи.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Судья — модель сильнее экстрактора. Он оценивал каждый текстовый фрагмент вместе с извлечёнными из него сущностями и связями, отдельно размечал все вершины как основные, второстепенные или шум и подтверждал кандидатов в дубликаты, найденных по близости эмбеддингов названий.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Главное: предобработка сделала из двух изолированных графов один. Без неё русская часть — отдельный остров, а обход графа не может пройти из одного учебника в другой. Ограничения: глоссарий составлен вручную под этот корпус; один прогон GraphRAG без повторов; судья — одна модель. Следующий шаг — RAG на сохранённых чанках и векторах.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F2328"/>
                </a:solidFill>
                <a:latin typeface="Calibri"/>
              </a:rPr>
              <a:t>Предобработка текста для графа знаний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718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5F5E5A"/>
                </a:solidFill>
                <a:latin typeface="Calibri"/>
              </a:rPr>
              <a:t>Грязный и чистый граф по двум учебникам о контролируемой прокатке стали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tanaka1981 (EN, 28 с.) + stat3 (RU, 10 с.) · MinerU → GraphRAG · gpt-4o-mini, bge-m3 · судья gpt-4.1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Эксперимент: отличие только в предобработке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B6834"/>
                </a:solidFill>
                <a:latin typeface="Calibri"/>
              </a:rPr>
              <a:t>Грязный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20240" y="164592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100">
                <a:solidFill>
                  <a:srgbClr val="1F2328"/>
                </a:solidFill>
                <a:latin typeface="Calibri"/>
              </a:rPr>
              <a:t>MinerU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90672" y="164592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28416" y="164592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100">
                <a:solidFill>
                  <a:srgbClr val="1F2328"/>
                </a:solidFill>
                <a:latin typeface="Calibri"/>
              </a:rPr>
              <a:t>GraphRAG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260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Calibri"/>
              </a:rPr>
              <a:t>Чистый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20240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100">
                <a:solidFill>
                  <a:srgbClr val="1F2328"/>
                </a:solidFill>
                <a:latin typeface="Calibri"/>
              </a:rPr>
              <a:t>MinerU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0672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28416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100">
                <a:solidFill>
                  <a:srgbClr val="1F2328"/>
                </a:solidFill>
                <a:latin typeface="Calibri"/>
              </a:rPr>
              <a:t>Chunking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6592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100">
                <a:solidFill>
                  <a:srgbClr val="1F2328"/>
                </a:solidFill>
                <a:latin typeface="Calibri"/>
              </a:rPr>
              <a:t>Очистка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07024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4768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100">
                <a:solidFill>
                  <a:srgbClr val="1F2328"/>
                </a:solidFill>
                <a:latin typeface="Calibri"/>
              </a:rPr>
              <a:t>Нормализация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52944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100">
                <a:solidFill>
                  <a:srgbClr val="1F2328"/>
                </a:solidFill>
                <a:latin typeface="Calibri"/>
              </a:rPr>
              <a:t>Токенизация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23376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100">
                <a:solidFill>
                  <a:srgbClr val="1F2328"/>
                </a:solidFill>
                <a:latin typeface="Calibri"/>
              </a:rPr>
              <a:t>Векторизация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1552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369296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100">
                <a:solidFill>
                  <a:srgbClr val="1F2328"/>
                </a:solidFill>
                <a:latin typeface="Calibri"/>
              </a:rPr>
              <a:t>GraphRAG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06240"/>
            <a:ext cx="110642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Общий вход: PDF → MinerU → markdown. Одинаковые модели, промпты, типы сущностей, чанк 1200 токенов.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Оба учебника → один граф. Метрики — после каждого этапа, по книгам и суммарно.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Сравнение графов: структура, обходы (BFS/DFS/пути), покрытие ПрО, LLM-as-a-judge.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1. Chunking: по структуре, а не по счётчику токенов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100%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границ чанков режут предложение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0040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340156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6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11480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формул и таблиц разрезано границей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480560" y="1325880"/>
          <a:ext cx="713232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480560" y="507492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Чанков: 33 → 52; максимум 1005 токенов — GraphRAG не перерезает.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6072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blocks = parse_blocks(markdown)  →  разделы по заголовкам, формулы $$…$$ и &lt;table&gt; — неделимые блоки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cut = последняя граница, где tokens(left) ≤ 900 и ends_sentence(left) and not starts_lowercase(right)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2. Очистка: убираем шум, не теряя смысла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6,8%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0,03%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доля шумовых символов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388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3317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служебных меток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56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3317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разорванных абзацев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337560"/>
            <a:ext cx="11064240" cy="214884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520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F5E5A"/>
                </a:solidFill>
                <a:latin typeface="Calibri"/>
              </a:rPr>
              <a:t>Было → стало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977639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328"/>
                </a:solidFill>
                <a:latin typeface="Consolas"/>
              </a:rPr>
              <a:t>con-  ¶  International Metals Reviews  ¶  186  ¶  trolled   →   controlled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328"/>
                </a:solidFill>
                <a:latin typeface="Consolas"/>
              </a:rPr>
              <a:t>In 1924 Arrowsmith $^{1}$ had …   →   In 1924 Arrowsmith had …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328"/>
                </a:solidFill>
                <a:latin typeface="Consolas"/>
              </a:rPr>
              <a:t>ох- лаждение,  1 9 + 4 4  (в формуле)   →   охлаждение,  19 + 44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328"/>
                </a:solidFill>
                <a:latin typeface="Consolas"/>
              </a:rPr>
              <a:t>PII (авторы, аффилиации): 127 → 0;  числа, формулы, ячейки таблиц: 100% / 100% / 100% сохранено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62356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76072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re.sub(r"&lt;/?(?:strong|u|b|i|em)&gt;", "", text);   re.sub(r"\s*\$\^\{[\d,\s–-]+\}\$", "", text)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re.sub(r"([^\W\d_]+)-\s+([а-яё]+)", r"\1\2", text);   блоки = колонтитулы ∪ r"^\d{1,3}$" → удалить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3. Нормализация: единицы, аббревиатуры, термины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20%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95%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единиц измерения в каноническом виде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0040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340156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0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11480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терминов глоссария в обеих книгах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17320"/>
            <a:ext cx="7269480" cy="338328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60020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B6834"/>
                </a:solidFill>
                <a:latin typeface="Calibri"/>
              </a:rPr>
              <a:t>stat3, было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1965960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328"/>
                </a:solidFill>
                <a:latin typeface="Calibri"/>
              </a:rPr>
              <a:t>…эффект КП, как способ измельчения зерна аустенита путём рекристаллизации…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74320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Calibri"/>
              </a:rPr>
              <a:t>стало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108960"/>
            <a:ext cx="6766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328"/>
                </a:solidFill>
                <a:latin typeface="Calibri"/>
              </a:rPr>
              <a:t>…эффект controlled rolling (КП, контролируемая прокатка), как способ grain refinement (измельчения зерна) austenite (аустенита) путём recrystallization (рекристаллизации)…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4983480"/>
            <a:ext cx="7269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Английский в скобках после русского модель игнорирует — проверено на промпте GraphRAG.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7784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71500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re.sub(r"&lt;sup&gt;\s*[0o°]\s*&lt;/sup&gt;\s*[СC]", " °C", text)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re.sub(r"\bконтролируем\w* прокатк\w*", lambda m: f"controlled rolling ({m[0]})", text, count=1)   ← glossary.yaml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4–5. Токенизация и векторизация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932688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1828800"/>
                <a:gridCol w="18288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5F5E5A"/>
                          </a:solidFill>
                          <a:latin typeface="Calibri"/>
                        </a:rPr>
                        <a:t>Метрика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OOV-rate (доля неизвестных слов)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2,2%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1,0%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Уникальных OOV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207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Неразобранные $ (обрывки формул)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LaTeX-обозначения → текст (γ, °C, Ar3)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274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Словарь TF-IDF, слов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2777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2296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Разреженность TF-IDF (окна по 300 слов)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0,945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0,932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Сходство RU→EN, лучший чанк (cos)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0,625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0,681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480560"/>
            <a:ext cx="110642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F5E5A"/>
                </a:solidFill>
                <a:latin typeface="Calibri"/>
              </a:rPr>
              <a:t>Векторы bge-m3 (1024) — для чанков (задел для RAG) и атрибутом каждой вершины графа.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F5E5A"/>
                </a:solidFill>
                <a:latin typeface="Calibri"/>
              </a:rPr>
              <a:t>Оговорки: OOV у tanaka упал в основном из-за удалённого списка литературы;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F5E5A"/>
                </a:solidFill>
                <a:latin typeface="Calibri"/>
              </a:rPr>
              <a:t>около 40% роста межъязыкового сходства дают вставленные английские термины.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48640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62356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oov = [w for w in re.findall(r"[^\W\d_]+", text) if zipf_frequency(w, lang) == 0 and w not in glossary]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SentenceTransformer("BAAI/bge-m3").encode(chunks);   TfidfVectorizer().fit_transform(windows_300)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Графы: русская часть перестала быть островом</a:t>
            </a:r>
          </a:p>
        </p:txBody>
      </p:sp>
      <p:pic>
        <p:nvPicPr>
          <p:cNvPr id="3" name="Picture 2" descr="dirty_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5747657" cy="5029200"/>
          </a:xfrm>
          <a:prstGeom prst="rect">
            <a:avLst/>
          </a:prstGeom>
        </p:spPr>
      </p:pic>
      <p:pic>
        <p:nvPicPr>
          <p:cNvPr id="4" name="Picture 3" descr="clean_grap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234440"/>
            <a:ext cx="5747657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093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B6834"/>
                </a:solidFill>
                <a:latin typeface="Calibri"/>
              </a:rPr>
              <a:t>рёбер EN–RU: 0, общих узлов: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63093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Calibri"/>
              </a:rPr>
              <a:t>рёбер EN–RU: 4, общих узлов: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Показатели графа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713232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463040"/>
                <a:gridCol w="146304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Показатель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Вершины / рёбра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465 / 388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406 / 487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Компоненты связности (без изолированных)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153 (28)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64 (13)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Доля крупнейшей компоненты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47%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78%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Изолированные вершины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125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Мосты / точки сочленения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224 / 83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230 / 87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Независимые циклы (E − V + C)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Средняя / макс. степень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1,67 / 52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2,40 / 77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Кластеризация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0,040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0,051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955279" y="1325880"/>
          <a:ext cx="3840480" cy="4754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Обходы графа: BFS, DFS, кратчайшие пути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2/10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10/10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пар концептов связаны путём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80%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92,5%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3317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покрытие ПрО: 40 концептов найдено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0%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81%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3317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узлов другого языка в BFS-2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3337560"/>
          <a:ext cx="914400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194560"/>
                <a:gridCol w="21945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Обход от 8 ключевых концептов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BFS-1 / BFS-2 / BFS-3, узлов в среднем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15 / 73 / 129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22 / 128 / 237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Концептов ПрО в BFS-2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11,9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27,4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Шумовых узлов в BFS-2 (судья)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1,4%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1,2%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DFS: достижимо узлов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192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316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Средняя длина пути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2,5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2,0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5623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F5E5A"/>
                </a:solidFill>
                <a:latin typeface="Calibri"/>
              </a:rPr>
              <a:t>Пример пути в чистом графе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328"/>
                </a:solidFill>
                <a:latin typeface="Calibri"/>
              </a:rPr>
              <a:t>GRAIN REFINEMENT  →  CONTROLLED ROLLING  →  REHEATING TEMPERATURE  →  SLAB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LLM-as-a-judge (gpt-4.1)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841248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1737360"/>
                <a:gridCol w="17373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5F5E5A"/>
                          </a:solidFill>
                          <a:latin typeface="Calibri"/>
                        </a:rPr>
                        <a:t>Критерий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Полнота по тексту (1–5)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2,82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3,04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Покрытие понятий фрагмента (1–5)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3,21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3,53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Целостность формул и таблиц (1–5)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2,64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2,83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Противоречия тексту, шт.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Шумовые сущности во фрагментах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5,3%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2,4%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Шумовые вершины графа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4,3%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1,2%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Корреференции: дубликаты вершин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  из них межъязыковые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9281160" y="1417320"/>
            <a:ext cx="2377440" cy="356616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0" y="160020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F5E5A"/>
                </a:solidFill>
                <a:latin typeface="Calibri"/>
              </a:rPr>
              <a:t>Шум грязного графа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2011680"/>
            <a:ext cx="20116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KONTROLIROVANNOY PROKATKI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NEPRYEVNOLITOGO METALLA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ТЕМПЕРАТУРА НА-ГРЕВА СЛЯ-БОВ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СОРТАТОПРОКАТ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САРАФАН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ГРУББЛЕХ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NIPPON KINZOKU GAKKAISHI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TETSU-TO-HAGANÉ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Выводы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2000" b="0">
                <a:solidFill>
                  <a:srgbClr val="1F2328"/>
                </a:solidFill>
                <a:latin typeface="Calibri"/>
              </a:rPr>
              <a:t>Chunking по структуре почти перестал рвать предложения и не режет формулы и таблицы.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1F2328"/>
                </a:solidFill>
                <a:latin typeface="Calibri"/>
              </a:rPr>
              <a:t>Очистка убрала почти весь шум, сохранив все числа, формулы и таблицы содержательной части.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1F2328"/>
                </a:solidFill>
                <a:latin typeface="Calibri"/>
              </a:rPr>
              <a:t>Нормализация терминов «английский канон первым» связала английскую и русскую части графа.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1F2328"/>
                </a:solidFill>
                <a:latin typeface="Calibri"/>
              </a:rPr>
              <a:t>Чистый граф связнее: компонент меньше, циклов больше, все пары концептов достижимы.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1F2328"/>
                </a:solidFill>
                <a:latin typeface="Calibri"/>
              </a:rPr>
              <a:t>Не решено: дубликаты вида ед./мн. число остались — нужна лемматизация сущностей.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1F2328"/>
                </a:solidFill>
                <a:latin typeface="Calibri"/>
              </a:rPr>
              <a:t>Ограничения: ручной глоссарий, один прогон, один судья. Дальше — RAG на чанках и векторах.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