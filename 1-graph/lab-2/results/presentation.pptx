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1179.0</c:v>
                </c:pt>
                <c:pt idx="1">
                  <c:v>1144.3</c:v>
                </c:pt>
                <c:pt idx="2">
                  <c:v>1171.7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654.7</c:v>
                </c:pt>
                <c:pt idx="1">
                  <c:v>823.1</c:v>
                </c:pt>
                <c:pt idx="2">
                  <c:v>683.8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62</c:v>
                </c:pt>
                <c:pt idx="2">
                  <c:v>36</c:v>
                </c:pt>
                <c:pt idx="3">
                  <c:v>36</c:v>
                </c:pt>
                <c:pt idx="4">
                  <c:v>28</c:v>
                </c:pt>
                <c:pt idx="5">
                  <c:v>105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</c:v>
                </c:pt>
                <c:pt idx="1">
                  <c:v>67</c:v>
                </c:pt>
                <c:pt idx="2">
                  <c:v>27</c:v>
                </c:pt>
                <c:pt idx="3">
                  <c:v>50</c:v>
                </c:pt>
                <c:pt idx="4">
                  <c:v>35</c:v>
                </c:pt>
                <c:pt idx="5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полной предобработки.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строятся GraphRAG с одинаковыми настройками: gpt-4o-mini, эмбеддинги bge-m3, одни и те же промпты и типы сущностей, размер чанка 1200 токенов. Грязный граф — из markdown MinerU как есть. Чистый — из того же markdown после пяти этапов предобработки. После каждого этапа считаем метрики по каждой книге и суммарно, каждый этап проверял независимый ревьюер.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 — почти каждая граница рвёт предложение, а таблица разрезана пополам. Структурный разбивщик идёт по разделам и абзацам, не режет формулы и таблицы и предпочитает границы на конце предложения. Чанки сохранены — они пойдут в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цитат, список литературы и метаданные авторов (PII). Склеиваем абзацы, разорванные страницами и подписями к рисункам, и переносы. Все правки журналируются. Числа, формулы и ячейки таблиц в содержательной части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единицы к одному виду (°C с пробелом, диапазоны через тире, Н/мм²), расшифровываем аббревиатуры и сводим термины к канону через двуязычный глоссарий. Важная находка: если писать английский термин в скобках после русского, gpt-4o-mini всё равно называет сущности по-русски. Работает только вариант, где канонический английский термин стоит первым — один раз на чанк. Так появились общие для двух книг узлы.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считаем по словарю wordfreq плюс доменный глоссарий. Честная оговорка: у tanaka снижение OOV почти целиком дал удалённый список литературы, а у stat3 — склеенные переносы. Векторы bge-m3 (1024) посчитаны для каждого чанка — это база для следующего этапа, RAG, — и для каждой вершины графа, они записаны атрибутом вершин. Межъязыковое сходство выросло, но примерно 40% прироста дают вставленные английские термины.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русский текст (оранжевый) — отдельный остров вокруг узла КП, между языками ноль рёбер. Справа чистый: русские сущности висят на общих узлах — CONTROLLED ROLLING, AUSTENITE, NIOBIUM и других; зелёные узлы извлечены из обеих книг.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стало меньше — ушёл шум (транслит, авторы, обрывки), а рёбер больше: граф плотнее. Компонент связности стало вдвое меньше, крупнейшая компонента охватывает больше вершин. Мостов почти столько же, а независимых циклов вдвое больше — у знаний появились альтернативные связи.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8 ключевых концептов как стартовые вершины и 10 пар концептов из разных частей предметной области. В грязном графе связаны только 2 пары из 10 — остальные в разных компонентах, в основном из-за языкового разрыва. В чистом связаны все 10. BFS на 2 шага теперь достаёт узлы из другого языка, а доля шумовых узлов среди достигнутых — по оценке судьи.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Судья — модель сильнее экстрактора. Он оценивал каждый текстовый фрагмент вместе с извлечёнными из него сущностями и связями, отдельно размечал все вершины как основные, второстепенные или шум и подтверждал кандидатов в дубликаты, найденных по близости эмбеддингов названий.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сделала из двух изолированных графов один. Без неё русская часть — отдельный остров, а обход графа не может пройти из одного учебника в другой. Ограничения: глоссарий составлен вручную под этот корпус; один прогон GraphRAG без повторов; судья — одна модель.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5564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48840" y="1645920"/>
            <a:ext cx="1481328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30168" y="1773936"/>
            <a:ext cx="228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58768" y="1645920"/>
            <a:ext cx="1481328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0096" y="1773936"/>
            <a:ext cx="228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68696" y="1645920"/>
            <a:ext cx="1481328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GraphRAG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5292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43200"/>
            <a:ext cx="988695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535" y="2871216"/>
            <a:ext cx="228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6135" y="2743200"/>
            <a:ext cx="988695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4830" y="2871216"/>
            <a:ext cx="228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3430" y="2743200"/>
            <a:ext cx="988695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Chunking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2125" y="2871216"/>
            <a:ext cx="228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0725" y="2743200"/>
            <a:ext cx="988695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Очистка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9420" y="2871216"/>
            <a:ext cx="228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18020" y="2743200"/>
            <a:ext cx="988695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Нормали-
зация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6715" y="2871216"/>
            <a:ext cx="228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5315" y="2743200"/>
            <a:ext cx="988695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Токени-
зация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4010" y="2871216"/>
            <a:ext cx="228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52610" y="2743200"/>
            <a:ext cx="988695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Вектори-
зация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1305" y="2871216"/>
            <a:ext cx="228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69905" y="2743200"/>
            <a:ext cx="988695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>
                <a:solidFill>
                  <a:srgbClr val="1F2328"/>
                </a:solidFill>
                <a:latin typeface="Calibri"/>
              </a:rPr>
              <a:t>GraphRAG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062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Одинаковые: модели, промпты, типы сущностей, размер чанка 1200 токенов, кластеризация.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Оба учебника → один граф. Метрики — после каждого этапа, по книгам и суммарно.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Сравнение графов: структура, обходы (BFS/DFS/пути), покрытие ПрО, LLM-as-a-judge.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Chunking: по структуре, а не по счётчику токенов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50749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33 → 52; максимум 1005 токенов — GraphRAG не перерезает.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Очистка: убираем шум, не теряя смысла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6,8%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0,03%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доля шумовых символов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388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служебных меток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разорванных абзацев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26517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5E5A"/>
                </a:solidFill>
                <a:latin typeface="Calibri"/>
              </a:rPr>
              <a:t>Было → стало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con-  ¶  International Metals Reviews  ¶  186  ¶  trolled   →   controlled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In 1924 Arrowsmith $^{1}$ had …   →   In 1924 Arrowsmith had 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ох- лаждение,  1 9 + 4 4  (в формуле)   →   охлаждение,  19 + 44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PII (авторы, аффилиации): 127 → 0;  числа, формулы, ячейки таблиц: 100% / 100% / 100% сохранено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Нормализация: единицы, аббревиатуры, термины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единиц измерения в каноническом виде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6596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путём рекристаллизации…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10896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alibri"/>
              </a:rPr>
              <a:t>…эффект controlled rolling (КП, контролируемая прокатка), как способ grain refinement (измельчения зерна) austenite (аустенита) путём recrystallization (рекристаллизации)…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983480"/>
            <a:ext cx="7269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Английский в скобках после русского модель игнорирует — проверено на промпте GraphRAG.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 и векторизация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9326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82880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OOV-rate (доля неизвестных слов)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207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Неразобранные $ (обрывки формул)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LaTeX-обозначения → текст (γ, °C, Ar3)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274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TF-IDF, слов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2777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2296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 (окна по 300 слов)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0,945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0,932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 (cos)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0,625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0,681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Векторы bge-m3 (1024) — для чанков (задел для RAG) и атрибутом каждой вершины графа.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Оговорки: OOV у tanaka упал в основном из-за удалённого списка литературы;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около 40% роста межъязыкового сходства дают вставленные английские термины.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перестала быть островом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рёбер EN–RU: 0, общих узлов: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рёбер EN–RU: 4, общих узлов: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465 / 388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406 / 487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связности (без изолированных)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153 (28)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64 (13)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Изолированные вершины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224 / 83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230 / 87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1,67 / 52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2,40 / 77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Кластеризация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0,040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0,051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графа: BFS, DFS, кратчайшие пути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2/10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концептов связаны путём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40 концептов найдено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узлов другого языка в BFS-2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8 ключевых концептов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узлов в среднем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15 / 73 / 129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 / 128 / 237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Концептов ПрО в BFS-2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11,9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27,4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узлов в BFS-2 (судья)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1,4%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узлов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316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длина пути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 пути в чистом графе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GRAIN REFINEMENT  →  CONTROLLED ROLLING  →  REHEATING TEMPERATURE  →  SLAB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LLM-as-a-judge (gpt-4.1)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841248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73736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2,82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3,04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понятий фрагмента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3,21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3,53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2,64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2,83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Противоречия тексту, шт.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Шумовые сущности во фрагментах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5,3%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2,4%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 графа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1,2%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Корреференции: дубликаты вершин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  из них межъязыковые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281160" y="1417320"/>
            <a:ext cx="2377440" cy="35661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600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Шум грязного графа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2011680"/>
            <a:ext cx="2011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KONTROLIROVANNOY PROKATKI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NEPRYEVNOLITOGO METALLA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ТЕМПЕРАТУРА НА-ГРЕВА СЛЯ-БОВ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СОРТАТОПРОКАТ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САРАФАН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ГРУББЛЕХ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NIPPON KINZOKU GAKKAISHI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TETSU-TO-HAGANÉ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Chunking по структуре почти перестал рвать предложения и не режет формулы и таблицы.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Очистка убрала почти весь шум, сохранив все числа, формулы и таблицы содержательной части.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Нормализация терминов «английский канон первым» связала английскую и русскую части графа.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Чистый граф связнее: компонент меньше, циклов больше, все пары концептов достижимы.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Не решено: дубликаты вида ед./мн. число остались — нужна лемматизация сущностей.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F2328"/>
                </a:solidFill>
                <a:latin typeface="Calibri"/>
              </a:rPr>
              <a:t>Ограничения: ручной глоссарий, один прогон, один судья. Дальше — RAG на чанках и векторах.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