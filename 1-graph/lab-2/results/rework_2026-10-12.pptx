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328"/>
                </a:solidFill>
              </a:rPr>
              <a:t>Переводы RU–EN, пар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грязный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0,95</c:v>
                </c:pt>
                <c:pt idx="1">
                  <c:v>0,92</c:v>
                </c:pt>
                <c:pt idx="2">
                  <c:v>0,90</c:v>
                </c:pt>
                <c:pt idx="3">
                  <c:v>0,88</c:v>
                </c:pt>
                <c:pt idx="4">
                  <c:v>0,85</c:v>
                </c:pt>
                <c:pt idx="5">
                  <c:v>0,82</c:v>
                </c:pt>
                <c:pt idx="6">
                  <c:v>0,80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чистый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0,95</c:v>
                </c:pt>
                <c:pt idx="1">
                  <c:v>0,92</c:v>
                </c:pt>
                <c:pt idx="2">
                  <c:v>0,90</c:v>
                </c:pt>
                <c:pt idx="3">
                  <c:v>0,88</c:v>
                </c:pt>
                <c:pt idx="4">
                  <c:v>0,85</c:v>
                </c:pt>
                <c:pt idx="5">
                  <c:v>0,82</c:v>
                </c:pt>
                <c:pt idx="6">
                  <c:v>0,80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8D3"/>
            </a:solidFill>
          </a:ln>
        </c:spPr>
        <c:txPr>
          <a:bodyPr/>
          <a:lstStyle/>
          <a:p>
            <a:pPr>
              <a:defRPr sz="1200"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F5E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328"/>
                </a:solidFill>
              </a:rPr>
              <a:t>Один язык, пар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грязный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0,95</c:v>
                </c:pt>
                <c:pt idx="1">
                  <c:v>0,92</c:v>
                </c:pt>
                <c:pt idx="2">
                  <c:v>0,90</c:v>
                </c:pt>
                <c:pt idx="3">
                  <c:v>0,88</c:v>
                </c:pt>
                <c:pt idx="4">
                  <c:v>0,85</c:v>
                </c:pt>
                <c:pt idx="5">
                  <c:v>0,82</c:v>
                </c:pt>
                <c:pt idx="6">
                  <c:v>0,80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6</c:v>
                </c:pt>
                <c:pt idx="2">
                  <c:v>8</c:v>
                </c:pt>
                <c:pt idx="3">
                  <c:v>12</c:v>
                </c:pt>
                <c:pt idx="4">
                  <c:v>27</c:v>
                </c:pt>
                <c:pt idx="5">
                  <c:v>58</c:v>
                </c:pt>
                <c:pt idx="6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чистый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0,95</c:v>
                </c:pt>
                <c:pt idx="1">
                  <c:v>0,92</c:v>
                </c:pt>
                <c:pt idx="2">
                  <c:v>0,90</c:v>
                </c:pt>
                <c:pt idx="3">
                  <c:v>0,88</c:v>
                </c:pt>
                <c:pt idx="4">
                  <c:v>0,85</c:v>
                </c:pt>
                <c:pt idx="5">
                  <c:v>0,82</c:v>
                </c:pt>
                <c:pt idx="6">
                  <c:v>0,80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11</c:v>
                </c:pt>
                <c:pt idx="2">
                  <c:v>20</c:v>
                </c:pt>
                <c:pt idx="3">
                  <c:v>40</c:v>
                </c:pt>
                <c:pt idx="4">
                  <c:v>73</c:v>
                </c:pt>
                <c:pt idx="5">
                  <c:v>139</c:v>
                </c:pt>
                <c:pt idx="6">
                  <c:v>195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8D3"/>
            </a:solidFill>
          </a:ln>
        </c:spPr>
        <c:txPr>
          <a:bodyPr/>
          <a:lstStyle/>
          <a:p>
            <a:pPr>
              <a:defRPr sz="1200">
                <a:solidFill>
                  <a:srgbClr val="1F232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F5E5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Первое: шум вырос на 2 п. п. Проверили разметку формул регулярными выражениями — она пропускала обозначения с кириллическим или словесным греческим индексом и ловила химические элементы. Исправили и вынесли вершины-формулы в отдельный подграф: 8 в грязном и 23 в чистом графе. Без них шум 3,5% → 2,5%, то есть рост давали именно формулы. Второе: понизили порог косинуса. Дубликаты-переводы при 0,85 действительно падают — 5 → 2, — но общее число пар растёт: ниже 0,9 косинус ловит не дубликаты, а родственные понятия, и в чистом графе их больше. Поэтому корреференцию считаем по видам с разными порогами. Третье: циклов больше ровно пропорционально размеру графа — 22,8 и 22,9 на 100 вершин; новые циклы проходят через вершины обеих книг: 29 → 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дубликаты-переводы: пары «русское название — английское» по порогу косинуса. В чистом графе их меньше при любом пороге до 0,85; ниже начинаются ложные пары вроде «ТЕМПЕРАТУРА = HEATING TEMPERATURE». Справа — пары на одном языке: с понижением порога их число растёт в обоих графах, но в чистом быстрее. Примеры при 0,85–0,88: RECRYSTALLIZATION = STATIC RECRYSTALLIZATION, CONTROLLED ROLLING = LOW-TEMPERATURE CONTROLLED ROLLING — это общее и частное понятие, а не дубликат. Нормализация сделала названия вершин английскими и подробными, поэтому таких близких пар больше.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 же 120 вершин каждого графа оценили gpt-4.1 дважды и три локальные модели через Ollama. Больше — не лучше: Qwen2.5-32B согласна с gpt-4.1 хуже, чем 14B, а на грязном графе находит вдвое меньше противоречий. Gemma3-12B не нашла ни одного. Локальные модели детерминированы — повтор Qwen-14B совпал один в один, — но обе Qwen считают чистый граф хуже грязного: это систематический сдвиг, а не шум. 25 вершин, где gpt-4.1 и обе Qwen расходятся, разметили вслепую по тексту: ни один судья там не надёжен, gpt-4.1 чуть точнее. С поправкой на разметку gpt-4.1 даёт 39,5% → 31,0% — направление то же. Оставляем судьёй gpt-4.1; разница графов по непротиворечивости — на границе точности судьи.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чанк получил по 7,5% соседей слева и справа: целые предложения, формулы и таблицы целиком, не больше 1200 токенов, только внутри книги. Базовые чанки те же — меняется один фактор. Чтобы отличить эффект от случайности GraphRAG, тот же чистый вход проиндексировали второй раз — это столбец «повтор». Отклонение явное, если оно больше удвоенного шума и не меньше 3 п. п. или 10%. Экстрактор берёт с чанка примерно одно и то же число сущностей независимо от длины, поэтому часть его внимания уходит на повтор соседнего текста: уникальных вершин меньше, связей между ними больше. Граф связнее, русская книга пришита к хабу CONTROLLED ROLLING, но рост циклов в основном звёздный, через хаб. Полнота и поиск хуже: MRR 0,77 → 0,73, соседние чанки стали похожи друг на друга. Непротиворечивость не изменилась.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Работа над ошибками: три замечания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749039"/>
                <a:gridCol w="2926080"/>
                <a:gridCol w="2194560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Замечание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Что сделали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Результат: грязный → чистый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1. Шум вырос на 2 п. п. — проверить разметку LaTeX-формул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Разметка исправлена: пропускала Т_0, Г_Θ, SIGMA_D, DELTA_P, ловила элементы NB, TI. Формулы — в отдельный подграф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формул 8 и 23; шум было 5,2% → 7,5%, стало 3,5% → 2,5%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Гипотеза подтвердилась: рост шума давали формулы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2. Понизить cos — корреференция должна упасть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Перебор порога cos 0,95…0,80; корреференция разделена на три вида: формы слова, один язык, переводы RU–EN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переводы (cos ≥ 0,85) 5 → 2; один язык (≥ 0,92) 6 → 11; формы слова 14 → 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Частично: переводы упали; ниже 0,9 cos ловит родственные понятия, а не дубликаты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3. Почему выросли независимые циклы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Профиль циклов: на 100 вершин, длины, через хаб, через вершины обеих книг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74 → 97; на 100 вершин 22,8 → 22,9; через обе книги 29 → 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Рост пропорционален размеру графа; новые циклы сшивают книги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Остальные критерии пересчитаны и не изменились; ответы судьи взяты из прошлого прогона.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Корреференция по порогу cos и что внутри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5577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72200" y="1188720"/>
          <a:ext cx="557784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F5E5A"/>
                </a:solidFill>
                <a:latin typeface="Calibri"/>
              </a:rPr>
              <a:t>Переводы при 0,85: ДЕФОРМАЦИЯ = DEFORMATION; НОРМАЛИЗАЦИЯ = NORMALIZATION; НОРМАЛИЗАЦИЯ = NORMALIZING; КАРБОН = CARBON; ТЕМПЕРАТУРА = TEMPERATURE</a:t>
            </a:r>
            <a:r>
              <a:rPr sz="1200" b="0">
                <a:solidFill>
                  <a:srgbClr val="008300"/>
                </a:solidFill>
              </a:rPr>
              <a:t> ⋄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F5E5A"/>
                </a:solidFill>
                <a:latin typeface="Calibri"/>
              </a:rPr>
              <a:t>Подграф формул чистого графа крепится к YIELD STRESS (9), TRANSITION TEMPERATURE (4)</a:t>
            </a:r>
            <a:r>
              <a:rPr sz="1200" b="0">
                <a:solidFill>
                  <a:srgbClr val="008300"/>
                </a:solidFill>
              </a:rPr>
              <a:t> 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Какой судья: gpt-4.1 или локальная модель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377440"/>
                <a:gridCol w="18288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Судья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Противоречий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κ с gpt-4.1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Повтор, κ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F5E5A"/>
                          </a:solidFill>
                          <a:latin typeface="Calibri"/>
                        </a:rPr>
                        <a:t>Верно на 25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gpt-4.1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41,7% → 30,8%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0,83 / 0,90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14 из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Qwen2.5-14B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35,8% → 44,2%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0,35 / 0,34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1,00 / 1,00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11 из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Qwen2.5-32B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17,5% → 34,2%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0,20 / 0,32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11 из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Gemma3-12B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A78D6"/>
                          </a:solidFill>
                          <a:latin typeface="Calibri"/>
                        </a:rPr>
                        <a:t>0,0% → 0,0%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0,00 / 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12 из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Больше параметров не помогает: 32B согласна с gpt-4.1 хуже, чем 14B, и на грязном графе находит вдвое меньше противоречий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Gemma3-12B не находит противоречий вообще; «всегда нет» на спорных вершинах угадывает не хуже Qwen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Обе Qwen ставят чистый граф ниже грязного — систематический сдвиг, а не шум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Слепая разметка 25 спорных вершин: с поправкой gpt-4.1 даёт 39,5% → 31,0%. Судья — gpt-4.1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5E5A"/>
                </a:solidFill>
                <a:latin typeface="Calibri"/>
              </a:rPr>
              <a:t>Противоречий — доля вершин, грязный → чистый; κ — каппа Коэна по флагу «есть противоречие», грязный / чистый; «Верно на 25» — совпадение со слепой разметкой спорных вершин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Чанки с пересечением 15%: граф связнее, но беднее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3152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188720"/>
                <a:gridCol w="146304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Чистый граф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база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повтор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пересечение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5E5A"/>
                          </a:solidFill>
                          <a:latin typeface="Calibri"/>
                        </a:rPr>
                        <a:t>явно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Токенов на входе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24 893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24 893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28 038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Вершин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389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Рёбер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437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433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455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Компонент связности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Крупнейшая компонента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66,0%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62,7%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77,2%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Русских вершин в ней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Циклов на 100 вершин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22,9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28,5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43,1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Полнота по тексту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65,6%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67,2%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59,4%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Дубликатов форм слова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Вершин с противоречиями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30,8%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28,3%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30,8%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MRR поиска по чанкам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0,77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A78D6"/>
                          </a:solidFill>
                          <a:latin typeface="Calibri"/>
                        </a:rPr>
                        <a:t>0,73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280160"/>
            <a:ext cx="35661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С чанка — около 15 сущностей при любой длине: пересечение тратит их на повтор соседа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Уникальных вершин меньше, связей больше — граф связнее, русская книга в общей компоненте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70% циклов идут через хаб CONTROLLED ROLLING — рост звёздный (в базе 60%)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Полнота и поиск хуже: соседние чанки стали похожи, редкие факты тонут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328"/>
                </a:solidFill>
                <a:latin typeface="Calibri"/>
              </a:rPr>
              <a:t>Вывод: пересечение — компромисс; для RAG оставляем чанки без пересечения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5E5A"/>
                </a:solidFill>
                <a:latin typeface="Calibri"/>
              </a:rPr>
              <a:t>повтор — тот же вход, проиндексированный второй раз, показывает шум GraphRAG; «явно» — отклонение больше удвоенного шума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52881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5E5A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