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/>
              <a:t>Правильных ответов (порог 60%)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грязный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Sheet1!$A$2:$A$5</c:f>
              <c:strCache>
                <c:ptCount val="4"/>
                <c:pt idx="0">
                  <c:v>bge-m3</c:v>
                </c:pt>
                <c:pt idx="1">
                  <c:v>GAT</c:v>
                </c:pt>
                <c:pt idx="2">
                  <c:v>GraphSAGE</c:v>
                </c:pt>
                <c:pt idx="3">
                  <c:v>гибрид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0.3462</c:v>
                </c:pt>
                <c:pt idx="1">
                  <c:v>0.3077</c:v>
                </c:pt>
                <c:pt idx="2">
                  <c:v>0.4231</c:v>
                </c:pt>
                <c:pt idx="3">
                  <c:v>0.4615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чистый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Sheet1!$A$2:$A$5</c:f>
              <c:strCache>
                <c:ptCount val="4"/>
                <c:pt idx="0">
                  <c:v>bge-m3</c:v>
                </c:pt>
                <c:pt idx="1">
                  <c:v>GAT</c:v>
                </c:pt>
                <c:pt idx="2">
                  <c:v>GraphSAGE</c:v>
                </c:pt>
                <c:pt idx="3">
                  <c:v>гибрид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0.6154</c:v>
                </c:pt>
                <c:pt idx="1">
                  <c:v>0.4231</c:v>
                </c:pt>
                <c:pt idx="2">
                  <c:v>0.3846</c:v>
                </c:pt>
                <c:pt idx="3">
                  <c:v>0.4231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 val="0"/>
        <c:axPos val="l"/>
        <c:numFmt formatCode="0%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Задача ДЗ-2: RAG-архитектура, где контекст из графа знаний находит графовая нейронная сеть. Граф — из прошлой работы, два варианта: грязный и чистый. Всё локально: Qwen2.5-14B и bge-m3 на видеокарте.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 превращается в маленький граф той же моделью, что строила базу знаний. Вершины запроса и графа знаний получают эмбеддинги GNN; ищем похожие вершины и добавляем бонус, если связь из запроса есть и в графе. Три стартовые вершины и их окрестность — контекст. Добавляем два исходных фрагмента текста этих вершин: без них графу не хватает чисел. LLM отвечает только по контексту, та же модель сверяет ответ с эталоном.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Проверка самой GNN до RAG: какую долю скрытых рёбер она отличает от случайных пар. Базовая линия — косинус исходных признаков bge-m3 без обучения на тех же разбиениях. GAT на грязном графе на уровне косинуса, на чистом хуже; GraphSAGE хуже везде и сильно зависит от сида. Причина — граф маленький: 300–400 вершин и около одного ребра на вершину, а текстовые признаки уже сильные.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Главная метрика — доля правильных ответов по судье. На чистом графе bge-m3 даёт 62%, гибрид с GAT — 42%. На грязном наоборот: гибрид 46% против 35% у bge-m3, связи графа добавляют информацию там, где описания вершин бедные. Чистые GAT и GraphSAGE хуже базовой линии на обоих графах.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Первый прогон с контекстом только из вершин и рёбер дал не больше 27%: GraphRAG теряет числа, и ключевого факта нет в описаниях графа у половины вопросов. Исходный текст вершин поднял результат. Предобработка из прошлой работы помогла: в чистом графе фактов больше. Судья — та же Qwen, поэтому ответы на чистом графе проверены вручную: флаг «правильно» совпал в 51 случае из 52.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Архитектура работает от вопроса до ответа. Порог 60% на нашем графе даёт поиск по текстовым эмбеддингам, а не GNN: граф слишком маленький, чтобы GNN выучила что-то сверх признаков. Там, где описания бедные, GNN помогает. Ограничения: 26 вопросов и судья — та же модель.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F2328"/>
                </a:solidFill>
                <a:latin typeface="Calibri"/>
              </a:rPr>
              <a:t>RAG на графе знаний с графовой нейронной сетью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5F5E5A"/>
                </a:solidFill>
                <a:latin typeface="Calibri"/>
              </a:rPr>
              <a:t>GAT ищет контекст в графе GraphRAG, Qwen2.5-14B отвечает по нему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5E5A"/>
                </a:solidFill>
                <a:latin typeface="Calibri"/>
              </a:rPr>
              <a:t>2 графа (грязный и чистый) · 26 вопросов RU/EN · GAT и GraphSAGE, предсказание связей · всё локально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328"/>
                </a:solidFill>
                <a:latin typeface="Calibri"/>
              </a:rPr>
              <a:t>Архитектура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2057400" cy="1828800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Вопрос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783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328"/>
                </a:solidFill>
                <a:latin typeface="Calibri"/>
              </a:rPr>
              <a:t>RU или 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554480"/>
            <a:ext cx="2057400" cy="1828800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6916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Граф запроса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2148840"/>
            <a:ext cx="1783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328"/>
                </a:solidFill>
                <a:latin typeface="Calibri"/>
              </a:rPr>
              <a:t>Qwen2.5-14B, промпт как в GraphRAG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554480"/>
            <a:ext cx="2057400" cy="1828800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16916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Поиск GNN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2148840"/>
            <a:ext cx="1783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328"/>
                </a:solidFill>
                <a:latin typeface="Calibri"/>
              </a:rPr>
              <a:t>bge-m3 0,7 + GAT 0,3; top-5, бонус за связи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554480"/>
            <a:ext cx="2057400" cy="1828800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6916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Контекст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148840"/>
            <a:ext cx="1783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328"/>
                </a:solidFill>
                <a:latin typeface="Calibri"/>
              </a:rPr>
              <a:t>3 стартовые вершины, до 30 вершин, рёбра, 2 фрагмента текста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1554480"/>
            <a:ext cx="2057400" cy="1828800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800" y="16916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A78D6"/>
                </a:solidFill>
                <a:latin typeface="Calibri"/>
              </a:rPr>
              <a:t>Ответ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2148840"/>
            <a:ext cx="17830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328"/>
                </a:solidFill>
                <a:latin typeface="Calibri"/>
              </a:rPr>
              <a:t>Qwen2.5-14B, только по контексту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40480"/>
            <a:ext cx="110642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Calibri"/>
              </a:rPr>
              <a:t>Признаки вершин — bge-m3 от «название: описание»; GNN обучена предсказывать связи (рёбра 80/10/10)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Calibri"/>
              </a:rPr>
              <a:t>GAT: 2 слоя, 8 голов, скрытый слой 64, dropout 0,3, ELU; 5 сидов, эмбеддинги усредняются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Calibri"/>
              </a:rPr>
              <a:t>Вершины запроса получают эмбеддинги той же GAT индуктивно — по своим признакам и рёбрам запроса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Calibri"/>
              </a:rPr>
              <a:t>Сравнение: bge-m3 без GNN, только GAT, только GraphSAGE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328"/>
                </a:solidFill>
                <a:latin typeface="Calibri"/>
              </a:rPr>
              <a:t>GNN предсказывает связи не лучше косинуса bge-m3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0972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2377440"/>
                <a:gridCol w="2377440"/>
                <a:gridCol w="237744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5F5E5A"/>
                          </a:solidFill>
                          <a:latin typeface="Calibri"/>
                        </a:rPr>
                        <a:t>Граф</a:t>
                      </a:r>
                    </a:p>
                  </a:txBody>
                  <a:tcPr marL="73152" marR="7315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5F5E5A"/>
                          </a:solidFill>
                          <a:latin typeface="Calibri"/>
                        </a:rPr>
                        <a:t>GNN</a:t>
                      </a:r>
                    </a:p>
                  </a:txBody>
                  <a:tcPr marL="73152" marR="7315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5F5E5A"/>
                          </a:solidFill>
                          <a:latin typeface="Calibri"/>
                        </a:rPr>
                        <a:t>Косинус bge-m3</a:t>
                      </a:r>
                    </a:p>
                  </a:txBody>
                  <a:tcPr marL="73152" marR="7315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5F5E5A"/>
                          </a:solidFill>
                          <a:latin typeface="Calibri"/>
                        </a:rPr>
                        <a:t>GNN, валидация</a:t>
                      </a:r>
                    </a:p>
                  </a:txBody>
                  <a:tcPr marL="73152" marR="7315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5F5E5A"/>
                          </a:solidFill>
                          <a:latin typeface="Calibri"/>
                        </a:rPr>
                        <a:t>GNN, тест</a:t>
                      </a:r>
                    </a:p>
                  </a:txBody>
                  <a:tcPr marL="73152" marR="73152" anchor="ctr">
                    <a:solidFill>
                      <a:srgbClr val="F1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Calibri"/>
                        </a:rPr>
                        <a:t>грязный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Calibri"/>
                        </a:rPr>
                        <a:t>GAT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328"/>
                          </a:solidFill>
                          <a:latin typeface="Calibri"/>
                        </a:rPr>
                        <a:t>0,775 ± 0,060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328"/>
                          </a:solidFill>
                          <a:latin typeface="Calibri"/>
                        </a:rPr>
                        <a:t>0,780 ± 0,046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328"/>
                          </a:solidFill>
                          <a:latin typeface="Calibri"/>
                        </a:rPr>
                        <a:t>0,795 ± 0,041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Calibri"/>
                        </a:rPr>
                        <a:t>грязный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Calibri"/>
                        </a:rPr>
                        <a:t>GraphSAGE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328"/>
                          </a:solidFill>
                          <a:latin typeface="Calibri"/>
                        </a:rPr>
                        <a:t>0,775 ± 0,060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328"/>
                          </a:solidFill>
                          <a:latin typeface="Calibri"/>
                        </a:rPr>
                        <a:t>0,686 ± 0,079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328"/>
                          </a:solidFill>
                          <a:latin typeface="Calibri"/>
                        </a:rPr>
                        <a:t>0,615 ± 0,131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Calibri"/>
                        </a:rPr>
                        <a:t>чистый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Calibri"/>
                        </a:rPr>
                        <a:t>GAT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328"/>
                          </a:solidFill>
                          <a:latin typeface="Calibri"/>
                        </a:rPr>
                        <a:t>0,815 ± 0,017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328"/>
                          </a:solidFill>
                          <a:latin typeface="Calibri"/>
                        </a:rPr>
                        <a:t>0,785 ± 0,042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328"/>
                          </a:solidFill>
                          <a:latin typeface="Calibri"/>
                        </a:rPr>
                        <a:t>0,723 ± 0,040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Calibri"/>
                        </a:rPr>
                        <a:t>чистый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328"/>
                          </a:solidFill>
                          <a:latin typeface="Calibri"/>
                        </a:rPr>
                        <a:t>GraphSAGE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328"/>
                          </a:solidFill>
                          <a:latin typeface="Calibri"/>
                        </a:rPr>
                        <a:t>0,815 ± 0,017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328"/>
                          </a:solidFill>
                          <a:latin typeface="Calibri"/>
                        </a:rPr>
                        <a:t>0,608 ± 0,068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F2328"/>
                          </a:solidFill>
                          <a:latin typeface="Calibri"/>
                        </a:rPr>
                        <a:t>0,605 ± 0,081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2918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5E5A"/>
                </a:solidFill>
                <a:latin typeface="Calibri"/>
              </a:rPr>
              <a:t>ROC-AUC предсказания скрытых рёбер, среднее ± отклонение по 5 сидам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328"/>
                </a:solidFill>
                <a:latin typeface="Calibri"/>
              </a:rPr>
              <a:t>RAG: порог 60% проходит только поиск без GNN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566928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92240" y="1280160"/>
          <a:ext cx="566928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280160"/>
                <a:gridCol w="731520"/>
                <a:gridCol w="146304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F5E5A"/>
                          </a:solidFill>
                          <a:latin typeface="Calibri"/>
                        </a:rPr>
                        <a:t>Граф</a:t>
                      </a:r>
                    </a:p>
                  </a:txBody>
                  <a:tcPr marL="73152" marR="7315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F5E5A"/>
                          </a:solidFill>
                          <a:latin typeface="Calibri"/>
                        </a:rPr>
                        <a:t>Поиск</a:t>
                      </a:r>
                    </a:p>
                  </a:txBody>
                  <a:tcPr marL="73152" marR="7315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5F5E5A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 marL="73152" marR="7315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5F5E5A"/>
                          </a:solidFill>
                          <a:latin typeface="Calibri"/>
                        </a:rPr>
                        <a:t>Факт в контексте</a:t>
                      </a:r>
                    </a:p>
                  </a:txBody>
                  <a:tcPr marL="73152" marR="73152"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5F5E5A"/>
                          </a:solidFill>
                          <a:latin typeface="Calibri"/>
                        </a:rPr>
                        <a:t>Правильно</a:t>
                      </a:r>
                    </a:p>
                  </a:txBody>
                  <a:tcPr marL="73152" marR="73152" anchor="ctr">
                    <a:solidFill>
                      <a:srgbClr val="F1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грязный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bge-m3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грязный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GAT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0,28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31%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грязный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GraphSAGE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0,35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42%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грязный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328"/>
                          </a:solidFill>
                          <a:latin typeface="Calibri"/>
                        </a:rPr>
                        <a:t>гибрид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0,52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58%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46%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чистый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bge-m3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0,74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77%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чистый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GAT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0,43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54%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42%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чистый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GraphSAGE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0,36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чистый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328"/>
                          </a:solidFill>
                          <a:latin typeface="Calibri"/>
                        </a:rPr>
                        <a:t>гибрид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0,60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F2328"/>
                          </a:solidFill>
                          <a:latin typeface="Calibri"/>
                        </a:rPr>
                        <a:t>42%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328"/>
                </a:solidFill>
                <a:latin typeface="Calibri"/>
              </a:rPr>
              <a:t>Почему так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474720" cy="2011680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64592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A78D6"/>
                </a:solidFill>
                <a:latin typeface="Calibri"/>
              </a:rPr>
              <a:t>27% → 62%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42316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5E5A"/>
                </a:solidFill>
                <a:latin typeface="Calibri"/>
              </a:rPr>
              <a:t>правильных на чистом графе: только вершины и рёбра → плюс исходный текст стартовых вершин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79" y="1463040"/>
            <a:ext cx="3474720" cy="2011680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1999" y="164592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A78D6"/>
                </a:solidFill>
                <a:latin typeface="Calibri"/>
              </a:rPr>
              <a:t>31% → 54%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999" y="242316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5E5A"/>
                </a:solidFill>
                <a:latin typeface="Calibri"/>
              </a:rPr>
              <a:t>вопросов, где ключевой факт есть в описаниях графа: грязный → чистый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463040"/>
            <a:ext cx="3474720" cy="2011680"/>
          </a:xfrm>
          <a:prstGeom prst="round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64592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A78D6"/>
                </a:solidFill>
                <a:latin typeface="Calibri"/>
              </a:rPr>
              <a:t>51 из 52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42316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5E5A"/>
                </a:solidFill>
                <a:latin typeface="Calibri"/>
              </a:rPr>
              <a:t>совпадение судьи с ручной проверкой по флагу «правильно»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110642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Calibri"/>
              </a:rPr>
              <a:t>GNN ухудшает поиск на чистом графе: стартовые вершины сдвигаются от точных совпадений к «связанным»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Calibri"/>
              </a:rPr>
              <a:t>Если факт есть в контексте, Qwen обычно отвечает правильно; если нет — пишет «нет ответа»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F2328"/>
                </a:solidFill>
                <a:latin typeface="Calibri"/>
              </a:rPr>
              <a:t>Типичная ошибка — общие слова вместо конкретного факта (f06: «финишная прокатка» вместо «стадии 2»)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2328"/>
                </a:solidFill>
                <a:latin typeface="Calibri"/>
              </a:rPr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2328"/>
                </a:solidFill>
                <a:latin typeface="Calibri"/>
              </a:rPr>
              <a:t>RAG с GNN собран и работает: вопрос → граф запроса → GAT → контекст → Qwen2.5-14B → судья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2328"/>
                </a:solidFill>
                <a:latin typeface="Calibri"/>
              </a:rPr>
              <a:t>Порог 60%: чистый граф + bge-m3 — 62% (65% по ручной проверке); гибрид с GAT — 42% и 46%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2328"/>
                </a:solidFill>
                <a:latin typeface="Calibri"/>
              </a:rPr>
              <a:t>На графе в 300–400 вершин GNN не лучше косинуса сильных текстовых эмбеддингов; помогает на грязном графе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2328"/>
                </a:solidFill>
                <a:latin typeface="Calibri"/>
              </a:rPr>
              <a:t>Графу GraphRAG нужен исходный текст: без него теряются числа — 27% → 62%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2328"/>
                </a:solidFill>
                <a:latin typeface="Calibri"/>
              </a:rPr>
              <a:t>Предобработка окупилась: в чистом графе ключевых фактов 54% против 31%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1F2328"/>
                </a:solidFill>
                <a:latin typeface="Calibri"/>
              </a:rPr>
              <a:t>Ограничения: 26 вопросов (1 ответ = 4 п. п.), судья — та же модель, один запуск обучения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